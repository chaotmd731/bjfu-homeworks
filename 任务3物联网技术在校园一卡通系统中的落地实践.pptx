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936514"/>
            <a:ext cx="7143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物联网技术在校园一卡通系统中的落地实践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971800" y="3205200"/>
            <a:ext cx="320040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从技术架构到开源项目实践解析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3726359" y="4527352"/>
            <a:ext cx="169128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汇报人：Manus | 2026年3月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目录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87648"/>
            <a:ext cx="3893344" cy="939403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501080"/>
            <a:ext cx="3247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1289112" y="1409105"/>
            <a:ext cx="296141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课题背景：一卡通为何是典型物联网系统？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679156" y="1187648"/>
            <a:ext cx="3893344" cy="939403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3469" y="1493937"/>
            <a:ext cx="3357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5407819" y="1401961"/>
            <a:ext cx="295036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体系架构：校园一卡通的物联网三层架构解析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571500" y="2327077"/>
            <a:ext cx="3893344" cy="939403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5813" y="2640509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1321594" y="2672655"/>
            <a:ext cx="27432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核心技术：从通信到安全的关键支撑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4679156" y="2327077"/>
            <a:ext cx="3893344" cy="939403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3469" y="2633365"/>
            <a:ext cx="34647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5418534" y="2541389"/>
            <a:ext cx="2939653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项目实践：cardSystem 的落地逻辑与业务流程</a:t>
            </a:r>
            <a:endParaRPr lang="en-US" sz="1193" dirty="0"/>
          </a:p>
        </p:txBody>
      </p:sp>
      <p:sp>
        <p:nvSpPr>
          <p:cNvPr id="16" name="Shape 13"/>
          <p:cNvSpPr/>
          <p:nvPr/>
        </p:nvSpPr>
        <p:spPr>
          <a:xfrm>
            <a:off x="571500" y="3466505"/>
            <a:ext cx="8001000" cy="755452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5813" y="3680817"/>
            <a:ext cx="357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8" dirty="0"/>
          </a:p>
        </p:txBody>
      </p:sp>
      <p:sp>
        <p:nvSpPr>
          <p:cNvPr id="18" name="Text 15"/>
          <p:cNvSpPr/>
          <p:nvPr/>
        </p:nvSpPr>
        <p:spPr>
          <a:xfrm>
            <a:off x="1321594" y="3712964"/>
            <a:ext cx="24003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总结延伸：技术价值与数据应用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课题背景：一卡通为何是典型物联网系统？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4286250" cy="1255514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259086"/>
            <a:ext cx="38576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核心结论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85813" y="1614488"/>
            <a:ext cx="3857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校园一卡通是集感知、传输、处理、应用于一体的完整物联网闭环系统，不只是一张塑料卡片。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00313"/>
            <a:ext cx="192881" cy="2071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7256" y="2500313"/>
            <a:ext cx="34575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身份识别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907256" y="2784277"/>
            <a:ext cx="34575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数字化解决“你是谁”的问题，涵盖宿舍、实验楼门禁及考勤。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50394"/>
            <a:ext cx="171450" cy="2071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5825" y="3150394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支付结算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885825" y="3434358"/>
            <a:ext cx="3714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数字化解决“你花了多少钱”的问题，涉及食堂、超市及水电缴纳。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5357813" y="1044773"/>
            <a:ext cx="3214688" cy="1393031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556" y="1330523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43563" y="1930598"/>
            <a:ext cx="2643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典型场景：智慧校园全覆盖</a:t>
            </a:r>
            <a:endParaRPr lang="en-US" sz="987" dirty="0"/>
          </a:p>
        </p:txBody>
      </p:sp>
      <p:sp>
        <p:nvSpPr>
          <p:cNvPr id="16" name="Shape 10"/>
          <p:cNvSpPr/>
          <p:nvPr/>
        </p:nvSpPr>
        <p:spPr>
          <a:xfrm>
            <a:off x="5357813" y="2566392"/>
            <a:ext cx="3214688" cy="1393031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981" y="2852142"/>
            <a:ext cx="51435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43563" y="3452217"/>
            <a:ext cx="2643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感知-传输-处理-应用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体系架构总览：三层模型完美适配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44773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校园一卡通系统严格遵循物联网标准三层架构，实现了从物理感知到云端处理的完整闭环。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59123"/>
            <a:ext cx="8001000" cy="3177183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559123"/>
            <a:ext cx="2000250" cy="591145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135981"/>
            <a:ext cx="2000250" cy="14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559123"/>
            <a:ext cx="2000250" cy="59114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架构层级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2571750" y="1559123"/>
            <a:ext cx="1600200" cy="591145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0" name="Shape 7"/>
          <p:cNvSpPr/>
          <p:nvPr/>
        </p:nvSpPr>
        <p:spPr>
          <a:xfrm>
            <a:off x="2571750" y="2135981"/>
            <a:ext cx="1600200" cy="14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2571750" y="1559123"/>
            <a:ext cx="1600200" cy="59114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4171950" y="1559123"/>
            <a:ext cx="4400550" cy="591145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3" name="Shape 10"/>
          <p:cNvSpPr/>
          <p:nvPr/>
        </p:nvSpPr>
        <p:spPr>
          <a:xfrm>
            <a:off x="4171950" y="2135981"/>
            <a:ext cx="4400550" cy="14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4171950" y="1559123"/>
            <a:ext cx="4400550" cy="59114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核心作用与体现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750094" y="2321719"/>
            <a:ext cx="1643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感知识别层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750094" y="2593181"/>
            <a:ext cx="987623" cy="221456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0094" y="2593181"/>
            <a:ext cx="987623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Perception Layer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571750" y="2143125"/>
            <a:ext cx="160020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系统的触角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171950" y="2143125"/>
            <a:ext cx="440055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采集终端数据（如刷卡、人脸识别）、触发消费或通行事件。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750094" y="3164681"/>
            <a:ext cx="1643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网络传输层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750094" y="3436144"/>
            <a:ext cx="878681" cy="221456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094" y="3436144"/>
            <a:ext cx="878681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Layer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2571750" y="2982516"/>
            <a:ext cx="1600200" cy="84296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系统的神经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171950" y="2982516"/>
            <a:ext cx="4400550" cy="84296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安全传输感知层采集的数据，保障交易数据的实时性与准确性。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750094" y="4007644"/>
            <a:ext cx="1643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应用支撑层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750094" y="4279106"/>
            <a:ext cx="1007269" cy="221456"/>
          </a:xfrm>
          <a:prstGeom prst="rect">
            <a:avLst/>
          </a:prstGeom>
          <a:solidFill>
            <a:srgbClr val="1E1E1E"/>
          </a:solidFill>
          <a:ln w="9144">
            <a:solidFill>
              <a:srgbClr val="00C85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0094" y="4279106"/>
            <a:ext cx="1007269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Layer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2571750" y="3825478"/>
            <a:ext cx="160020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系统的大脑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4171950" y="3825478"/>
            <a:ext cx="440055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处理复杂的业务逻辑（如扣费、授权）、存储并分析海量流水数据。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感知识别层（Perception Layer）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3046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“系统的触角”：数据采集的核心层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323380"/>
            <a:ext cx="3857625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61802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2994" y="1537692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785813" y="2000250"/>
            <a:ext cx="3429000" cy="500063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2232422"/>
            <a:ext cx="12501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96578" y="2210098"/>
            <a:ext cx="177700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RFID (M1卡) / NFC 非接触识别</a:t>
            </a:r>
            <a:endParaRPr lang="en-US" sz="885" dirty="0"/>
          </a:p>
        </p:txBody>
      </p:sp>
      <p:sp>
        <p:nvSpPr>
          <p:cNvPr id="11" name="Shape 6"/>
          <p:cNvSpPr/>
          <p:nvPr/>
        </p:nvSpPr>
        <p:spPr>
          <a:xfrm>
            <a:off x="785813" y="2678906"/>
            <a:ext cx="3429000" cy="500063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2911078"/>
            <a:ext cx="125016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6578" y="2888754"/>
            <a:ext cx="143589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二维码 / 动态码 移动支付</a:t>
            </a:r>
            <a:endParaRPr lang="en-US" sz="885" dirty="0"/>
          </a:p>
        </p:txBody>
      </p:sp>
      <p:sp>
        <p:nvSpPr>
          <p:cNvPr id="14" name="Shape 8"/>
          <p:cNvSpPr/>
          <p:nvPr/>
        </p:nvSpPr>
        <p:spPr>
          <a:xfrm>
            <a:off x="785813" y="3357563"/>
            <a:ext cx="3429000" cy="500063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3589734"/>
            <a:ext cx="178594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50156" y="3567410"/>
            <a:ext cx="131980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人脸识别 生物特征核验</a:t>
            </a:r>
            <a:endParaRPr lang="en-US" sz="885" dirty="0"/>
          </a:p>
        </p:txBody>
      </p:sp>
      <p:sp>
        <p:nvSpPr>
          <p:cNvPr id="17" name="Shape 10"/>
          <p:cNvSpPr/>
          <p:nvPr/>
        </p:nvSpPr>
        <p:spPr>
          <a:xfrm>
            <a:off x="4714875" y="1323380"/>
            <a:ext cx="3857625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561802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36369" y="1537692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核心硬件</a:t>
            </a:r>
            <a:endParaRPr lang="en-US" sz="1193" dirty="0"/>
          </a:p>
        </p:txBody>
      </p:sp>
      <p:sp>
        <p:nvSpPr>
          <p:cNvPr id="20" name="Text 12"/>
          <p:cNvSpPr/>
          <p:nvPr/>
        </p:nvSpPr>
        <p:spPr>
          <a:xfrm>
            <a:off x="4929188" y="2000250"/>
            <a:ext cx="34290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IC卡终端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4929188" y="2244923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存储用户UID和加密扇区数据，实现离线/在线双重校验。</a:t>
            </a:r>
            <a:endParaRPr lang="en-US" sz="834" dirty="0"/>
          </a:p>
        </p:txBody>
      </p:sp>
      <p:sp>
        <p:nvSpPr>
          <p:cNvPr id="22" name="Text 14"/>
          <p:cNvSpPr/>
          <p:nvPr/>
        </p:nvSpPr>
        <p:spPr>
          <a:xfrm>
            <a:off x="4929188" y="2673548"/>
            <a:ext cx="34290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读卡器 / POS机</a:t>
            </a:r>
            <a:endParaRPr lang="en-US" sz="885" dirty="0"/>
          </a:p>
        </p:txBody>
      </p:sp>
      <p:sp>
        <p:nvSpPr>
          <p:cNvPr id="23" name="Text 15"/>
          <p:cNvSpPr/>
          <p:nvPr/>
        </p:nvSpPr>
        <p:spPr>
          <a:xfrm>
            <a:off x="4929188" y="2918222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通过电磁感应读取卡片信息，作为感知层与网络层的桥梁。</a:t>
            </a:r>
            <a:endParaRPr lang="en-US" sz="834" dirty="0"/>
          </a:p>
        </p:txBody>
      </p:sp>
      <p:sp>
        <p:nvSpPr>
          <p:cNvPr id="24" name="Text 16"/>
          <p:cNvSpPr/>
          <p:nvPr/>
        </p:nvSpPr>
        <p:spPr>
          <a:xfrm>
            <a:off x="4929188" y="3346847"/>
            <a:ext cx="34290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传感器集成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4929188" y="3591520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水控机流量传感器、电控电流互感器，实现资源消耗的实时感知。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网络传输层（Network Layer）：“系统的神经”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79599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109" y="1044773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多样化通信协议</a:t>
            </a:r>
            <a:endParaRPr lang="en-US" sz="1090" dirty="0"/>
          </a:p>
        </p:txBody>
      </p:sp>
      <p:sp>
        <p:nvSpPr>
          <p:cNvPr id="6" name="Shape 2"/>
          <p:cNvSpPr/>
          <p:nvPr/>
        </p:nvSpPr>
        <p:spPr>
          <a:xfrm>
            <a:off x="571500" y="1450181"/>
            <a:ext cx="3857625" cy="660797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14375" y="1594842"/>
            <a:ext cx="357188" cy="357188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31" y="1701998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4438" y="1593056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TCP/IP (以太网)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1214438" y="1809155"/>
            <a:ext cx="15001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骨干网传输，保障高带宽与稳定性</a:t>
            </a:r>
            <a:endParaRPr lang="en-US" sz="727" dirty="0"/>
          </a:p>
        </p:txBody>
      </p:sp>
      <p:sp>
        <p:nvSpPr>
          <p:cNvPr id="11" name="Shape 6"/>
          <p:cNvSpPr/>
          <p:nvPr/>
        </p:nvSpPr>
        <p:spPr>
          <a:xfrm>
            <a:off x="571500" y="2203847"/>
            <a:ext cx="3857625" cy="660797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14375" y="2348508"/>
            <a:ext cx="357188" cy="357188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455664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14438" y="2346722"/>
            <a:ext cx="16002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RS-485 总线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214438" y="2562820"/>
            <a:ext cx="16002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工业级标准，常用于近距离终端连接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571500" y="2957513"/>
            <a:ext cx="3857625" cy="660797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4375" y="3102173"/>
            <a:ext cx="357188" cy="357188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72" y="3209330"/>
            <a:ext cx="178594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4438" y="3100388"/>
            <a:ext cx="17002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/ 无线接入</a:t>
            </a:r>
            <a:endParaRPr lang="en-US" sz="885" dirty="0"/>
          </a:p>
        </p:txBody>
      </p:sp>
      <p:sp>
        <p:nvSpPr>
          <p:cNvPr id="20" name="Text 13"/>
          <p:cNvSpPr/>
          <p:nvPr/>
        </p:nvSpPr>
        <p:spPr>
          <a:xfrm>
            <a:off x="1214438" y="3316486"/>
            <a:ext cx="17002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灵活部署，适用于移动终端与临时站点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571500" y="3711178"/>
            <a:ext cx="3857625" cy="6572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14375" y="3854053"/>
            <a:ext cx="357188" cy="357188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602" y="3961209"/>
            <a:ext cx="160734" cy="1428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14438" y="3868341"/>
            <a:ext cx="1700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ZigBee / LoRa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1214438" y="4052292"/>
            <a:ext cx="17002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低功耗广域网，适用于宿舍水表等节点</a:t>
            </a:r>
            <a:endParaRPr lang="en-US" sz="727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079599"/>
            <a:ext cx="157163" cy="1571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979194" y="1044773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组网安全与隔离</a:t>
            </a:r>
            <a:endParaRPr lang="en-US" sz="1090" dirty="0"/>
          </a:p>
        </p:txBody>
      </p:sp>
      <p:sp>
        <p:nvSpPr>
          <p:cNvPr id="28" name="Shape 19"/>
          <p:cNvSpPr/>
          <p:nvPr/>
        </p:nvSpPr>
        <p:spPr>
          <a:xfrm>
            <a:off x="4714875" y="1450181"/>
            <a:ext cx="3857625" cy="2911692"/>
          </a:xfrm>
          <a:prstGeom prst="rect">
            <a:avLst/>
          </a:prstGeom>
          <a:solidFill>
            <a:srgbClr val="1E1E1E"/>
          </a:solidFill>
          <a:ln w="9144">
            <a:solidFill>
              <a:srgbClr val="2979FF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703784"/>
            <a:ext cx="112514" cy="12858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27427" y="1664494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校园骨干网专网隔离</a:t>
            </a:r>
            <a:endParaRPr lang="en-US" sz="987" dirty="0"/>
          </a:p>
        </p:txBody>
      </p:sp>
      <p:sp>
        <p:nvSpPr>
          <p:cNvPr id="31" name="Text 21"/>
          <p:cNvSpPr/>
          <p:nvPr/>
        </p:nvSpPr>
        <p:spPr>
          <a:xfrm>
            <a:off x="4929188" y="1943100"/>
            <a:ext cx="3429000" cy="3657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建立独立的逻辑或物理专网，确保一卡通交易数据不与校园外网混用，防止外部攻击。</a:t>
            </a:r>
            <a:endParaRPr lang="en-US" sz="834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2526711"/>
            <a:ext cx="160734" cy="12858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175647" y="2487420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终端准入控制</a:t>
            </a:r>
            <a:endParaRPr lang="en-US" sz="987" dirty="0"/>
          </a:p>
        </p:txBody>
      </p:sp>
      <p:sp>
        <p:nvSpPr>
          <p:cNvPr id="34" name="Text 23"/>
          <p:cNvSpPr/>
          <p:nvPr/>
        </p:nvSpPr>
        <p:spPr>
          <a:xfrm>
            <a:off x="4929188" y="2766027"/>
            <a:ext cx="3429000" cy="3657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严格的设备认证机制，只有经过授权的读卡器和POS机才能接入网络。</a:t>
            </a:r>
            <a:endParaRPr lang="en-US" sz="834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3349637"/>
            <a:ext cx="96441" cy="12858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111353" y="3310347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交易数据加密</a:t>
            </a:r>
            <a:endParaRPr lang="en-US" sz="987" dirty="0"/>
          </a:p>
        </p:txBody>
      </p:sp>
      <p:sp>
        <p:nvSpPr>
          <p:cNvPr id="37" name="Text 25"/>
          <p:cNvSpPr/>
          <p:nvPr/>
        </p:nvSpPr>
        <p:spPr>
          <a:xfrm>
            <a:off x="4929188" y="3588953"/>
            <a:ext cx="3429000" cy="3657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传输过程中采用端到端加密，保障每一笔消费流水的真实性与不可篡改性。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应用支撑层（Application Layer）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2524116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259086"/>
            <a:ext cx="209549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687711"/>
            <a:ext cx="209549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技术栈架构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85813" y="2078831"/>
            <a:ext cx="209549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</a:t>
            </a:r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等主流后端框架，构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建高性能、可扩展的业务处理中心。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928688" y="2633142"/>
            <a:ext cx="11304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 接口设计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928688" y="2946016"/>
            <a:ext cx="9144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微服务化业务拆分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928688" y="3258889"/>
            <a:ext cx="1028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高并发异步处理机制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309928" y="1044773"/>
            <a:ext cx="2524116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41" y="1259086"/>
            <a:ext cx="2095491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4241" y="1687711"/>
            <a:ext cx="209549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核心数据中心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3524241" y="2078831"/>
            <a:ext cx="209549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集中存储与管理全校范围内的核心业务数据，确保数据的实时性与一致性。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3667116" y="2633142"/>
            <a:ext cx="1028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用户信息与生物特征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3667116" y="2946016"/>
            <a:ext cx="1028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卡片状态与实时余额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3667116" y="3258889"/>
            <a:ext cx="9144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海量消费流水日志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048356" y="1044773"/>
            <a:ext cx="2524144" cy="3214688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69" y="1259086"/>
            <a:ext cx="2095519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2669" y="1687711"/>
            <a:ext cx="209551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核心业务模块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6262669" y="2078831"/>
            <a:ext cx="20955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涵盖校园生活的方方面面，实现“一卡在手，走遍校园”的数字化体验。</a:t>
            </a:r>
            <a:endParaRPr lang="en-US" sz="834" dirty="0"/>
          </a:p>
        </p:txBody>
      </p:sp>
      <p:sp>
        <p:nvSpPr>
          <p:cNvPr id="22" name="Text 16"/>
          <p:cNvSpPr/>
          <p:nvPr/>
        </p:nvSpPr>
        <p:spPr>
          <a:xfrm>
            <a:off x="6405544" y="2633142"/>
            <a:ext cx="1143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支付结算：食堂、超市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6405544" y="2946016"/>
            <a:ext cx="1143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资源管理：图书馆借阅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6405544" y="3258889"/>
            <a:ext cx="1143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权限控制：宿舍、机房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核心技术点解析：关键维度与物联网特性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283196"/>
            <a:ext cx="285750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8719" y="1259086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射频通信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85813" y="1650206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 ISO/IEC 14443 协议（M1卡），实现非接触式近场数据交换。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785813" y="2168798"/>
            <a:ext cx="1371600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85813" y="2168798"/>
            <a:ext cx="1371600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物联网体现：近场数据交换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4679156" y="1044773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283196"/>
            <a:ext cx="285750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86375" y="1259086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嵌入式开发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4893469" y="1650206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STM32/ESP32 驱动读卡模块，实现终端设备的边缘智能处理。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4893469" y="2168798"/>
            <a:ext cx="1171575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4893469" y="2168798"/>
            <a:ext cx="1171575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物联网体现：边缘智能</a:t>
            </a:r>
            <a:endParaRPr lang="en-US" sz="683" dirty="0"/>
          </a:p>
        </p:txBody>
      </p:sp>
      <p:sp>
        <p:nvSpPr>
          <p:cNvPr id="16" name="Shape 11"/>
          <p:cNvSpPr/>
          <p:nvPr/>
        </p:nvSpPr>
        <p:spPr>
          <a:xfrm>
            <a:off x="571500" y="2973586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212009"/>
            <a:ext cx="285750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8719" y="3187898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数据安全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785813" y="3579019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DES/AES 对称加密与扇区校验，保证物联网节点数据防篡改。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785813" y="4097610"/>
            <a:ext cx="1371600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785813" y="4097610"/>
            <a:ext cx="1371600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物联网体现：节点安全防护</a:t>
            </a:r>
            <a:endParaRPr lang="en-US" sz="683" dirty="0"/>
          </a:p>
        </p:txBody>
      </p:sp>
      <p:sp>
        <p:nvSpPr>
          <p:cNvPr id="22" name="Shape 16"/>
          <p:cNvSpPr/>
          <p:nvPr/>
        </p:nvSpPr>
        <p:spPr>
          <a:xfrm>
            <a:off x="4679156" y="2973586"/>
            <a:ext cx="3893344" cy="1714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212009"/>
            <a:ext cx="285750" cy="2000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6375" y="3187898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并发处理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4893469" y="3579019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利用数据库事务控制，保证高频刷卡时“余额”与“流水”的强一致性。</a:t>
            </a:r>
            <a:endParaRPr lang="en-US" sz="942" dirty="0"/>
          </a:p>
        </p:txBody>
      </p:sp>
      <p:sp>
        <p:nvSpPr>
          <p:cNvPr id="26" name="Shape 19"/>
          <p:cNvSpPr/>
          <p:nvPr/>
        </p:nvSpPr>
        <p:spPr>
          <a:xfrm>
            <a:off x="4893469" y="4097610"/>
            <a:ext cx="1471613" cy="201811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4893469" y="4097610"/>
            <a:ext cx="1471613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物联网体现：高频数据一致性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开源项目实践：物理实体到数字模型的映射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8001000" cy="10001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01973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8713" y="1512689"/>
            <a:ext cx="116264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持卡人 (Physical)</a:t>
            </a:r>
            <a:endParaRPr lang="en-US" sz="98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530548"/>
            <a:ext cx="171450" cy="1714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786313" y="1357313"/>
            <a:ext cx="3571875" cy="517922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929188" y="1471613"/>
            <a:ext cx="32861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79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 实体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4929188" y="1719858"/>
            <a:ext cx="32861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映射持卡人生物信息、学号、所属部门等基础资料。</a:t>
            </a:r>
            <a:endParaRPr lang="en-US" sz="727" dirty="0"/>
          </a:p>
        </p:txBody>
      </p:sp>
      <p:sp>
        <p:nvSpPr>
          <p:cNvPr id="11" name="Shape 6"/>
          <p:cNvSpPr/>
          <p:nvPr/>
        </p:nvSpPr>
        <p:spPr>
          <a:xfrm>
            <a:off x="571500" y="2187773"/>
            <a:ext cx="8001000" cy="10001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644973"/>
            <a:ext cx="257175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5863" y="2655689"/>
            <a:ext cx="13751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RFID 卡片 (Physical)</a:t>
            </a:r>
            <a:endParaRPr lang="en-US" sz="98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2673548"/>
            <a:ext cx="171450" cy="17145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786313" y="2500313"/>
            <a:ext cx="3571875" cy="517922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4929188" y="2614613"/>
            <a:ext cx="32861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79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Card 实体</a:t>
            </a:r>
            <a:endParaRPr lang="en-US" sz="885" dirty="0"/>
          </a:p>
        </p:txBody>
      </p:sp>
      <p:sp>
        <p:nvSpPr>
          <p:cNvPr id="17" name="Text 10"/>
          <p:cNvSpPr/>
          <p:nvPr/>
        </p:nvSpPr>
        <p:spPr>
          <a:xfrm>
            <a:off x="4929188" y="2862858"/>
            <a:ext cx="32861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映射卡片逻辑表示，包含余额、挂失状态、UID及加密校验码。</a:t>
            </a:r>
            <a:endParaRPr lang="en-US" sz="727" dirty="0"/>
          </a:p>
        </p:txBody>
      </p:sp>
      <p:sp>
        <p:nvSpPr>
          <p:cNvPr id="18" name="Shape 11"/>
          <p:cNvSpPr/>
          <p:nvPr/>
        </p:nvSpPr>
        <p:spPr>
          <a:xfrm>
            <a:off x="571500" y="3330773"/>
            <a:ext cx="8001000" cy="10001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787973"/>
            <a:ext cx="17145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00138" y="3798689"/>
            <a:ext cx="13055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刷卡事件 (Physical)</a:t>
            </a:r>
            <a:endParaRPr lang="en-US" sz="987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0" y="3816548"/>
            <a:ext cx="171450" cy="17145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786313" y="3643313"/>
            <a:ext cx="3571875" cy="517922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4929188" y="3757613"/>
            <a:ext cx="32861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79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Bill 实体</a:t>
            </a:r>
            <a:endParaRPr lang="en-US" sz="885" dirty="0"/>
          </a:p>
        </p:txBody>
      </p:sp>
      <p:sp>
        <p:nvSpPr>
          <p:cNvPr id="24" name="Text 15"/>
          <p:cNvSpPr/>
          <p:nvPr/>
        </p:nvSpPr>
        <p:spPr>
          <a:xfrm>
            <a:off x="4929188" y="4005858"/>
            <a:ext cx="32861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映射感知层触发的一次“事件”，记录消费时间、地点及金额流水。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消费业务逻辑闭环：从“感应”到“执行”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87648"/>
            <a:ext cx="2286000" cy="2857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71625" y="1044773"/>
            <a:ext cx="285750" cy="28575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6" name="Text 3"/>
          <p:cNvSpPr/>
          <p:nvPr/>
        </p:nvSpPr>
        <p:spPr>
          <a:xfrm>
            <a:off x="1571625" y="10447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85813" y="1678781"/>
            <a:ext cx="1857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感应触发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785813" y="2048470"/>
            <a:ext cx="1857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物理终端感应到卡片，封装交易报文，向后端接口发送消费请求：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785813" y="2521353"/>
            <a:ext cx="1857375" cy="245734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5813" y="2521353"/>
            <a:ext cx="1857375" cy="245734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/api/consume</a:t>
            </a:r>
            <a:endParaRPr lang="en-US" sz="727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2502098"/>
            <a:ext cx="142875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29000" y="1187648"/>
            <a:ext cx="2286000" cy="2857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29125" y="1044773"/>
            <a:ext cx="285750" cy="28575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4" name="Text 10"/>
          <p:cNvSpPr/>
          <p:nvPr/>
        </p:nvSpPr>
        <p:spPr>
          <a:xfrm>
            <a:off x="4429125" y="10447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87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473398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43313" y="1994892"/>
            <a:ext cx="1857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原子处理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3643313" y="2364581"/>
            <a:ext cx="1857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CardService 执行核心数学公式，通过数据库事务保证强一致性：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3643313" y="2837464"/>
            <a:ext cx="1857375" cy="245734"/>
          </a:xfrm>
          <a:prstGeom prst="rect">
            <a:avLst/>
          </a:prstGeom>
          <a:solidFill>
            <a:srgbClr val="1E1E1E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43313" y="2837464"/>
            <a:ext cx="1857375" cy="245734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Bal_new = Bal_old - Amt</a:t>
            </a:r>
            <a:endParaRPr lang="en-US" sz="727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3" y="2502098"/>
            <a:ext cx="142875" cy="22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86500" y="1187648"/>
            <a:ext cx="2286000" cy="28575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286625" y="1044773"/>
            <a:ext cx="285750" cy="28575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3" name="Text 17"/>
          <p:cNvSpPr/>
          <p:nvPr/>
        </p:nvSpPr>
        <p:spPr>
          <a:xfrm>
            <a:off x="7286625" y="10447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87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619" y="1473398"/>
            <a:ext cx="385763" cy="3429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00813" y="1994892"/>
            <a:ext cx="1857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状态反馈</a:t>
            </a:r>
            <a:endParaRPr lang="en-US" sz="1090" dirty="0"/>
          </a:p>
        </p:txBody>
      </p:sp>
      <p:sp>
        <p:nvSpPr>
          <p:cNvPr id="26" name="Text 19"/>
          <p:cNvSpPr/>
          <p:nvPr/>
        </p:nvSpPr>
        <p:spPr>
          <a:xfrm>
            <a:off x="6500813" y="2364581"/>
            <a:ext cx="18573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后端返回指令，读卡器发出“滴”声，并驱动执行层动作（如弹开电磁锁）。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项目学习价值与延伸应用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4286250" cy="385762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291233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259086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食堂消费频次时段分析（数据挖掘示例）</a:t>
            </a:r>
            <a:endParaRPr lang="en-US" sz="98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1609130"/>
            <a:ext cx="3843338" cy="2500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5813" y="4252317"/>
            <a:ext cx="38576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数据来源：模拟 cardSystem 消费流水统计</a:t>
            </a:r>
            <a:endParaRPr lang="en-US" sz="727" dirty="0"/>
          </a:p>
        </p:txBody>
      </p:sp>
      <p:sp>
        <p:nvSpPr>
          <p:cNvPr id="9" name="Shape 4"/>
          <p:cNvSpPr/>
          <p:nvPr/>
        </p:nvSpPr>
        <p:spPr>
          <a:xfrm>
            <a:off x="5143500" y="1044773"/>
            <a:ext cx="3429000" cy="11430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094" y="1255514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50694" y="1223367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行为分析与决策支持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5322094" y="1516261"/>
            <a:ext cx="3071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通过分析刷卡频次，精准推断食堂、图书馆等公共场所的拥挤时段，为校园资源调度提供科学依据。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5143500" y="2330648"/>
            <a:ext cx="3429000" cy="1143000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094" y="2541389"/>
            <a:ext cx="160734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68553" y="2509242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精准资助与消费预警</a:t>
            </a:r>
            <a:endParaRPr lang="en-US" sz="987" dirty="0"/>
          </a:p>
        </p:txBody>
      </p:sp>
      <p:sp>
        <p:nvSpPr>
          <p:cNvPr id="16" name="Text 9"/>
          <p:cNvSpPr/>
          <p:nvPr/>
        </p:nvSpPr>
        <p:spPr>
          <a:xfrm>
            <a:off x="5322094" y="2802136"/>
            <a:ext cx="3071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利用大数据分析学生消费水平，辅助贫困生认定；同时对异常消费行为进行预警，保障学生校园生活安全。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5143500" y="3616523"/>
            <a:ext cx="3429000" cy="1143000"/>
          </a:xfrm>
          <a:prstGeom prst="rect">
            <a:avLst/>
          </a:prstGeom>
          <a:solidFill>
            <a:srgbClr val="2D2D2D"/>
          </a:solidFill>
          <a:ln w="9144">
            <a:solidFill>
              <a:srgbClr val="00C853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2094" y="3827264"/>
            <a:ext cx="178594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586413" y="3795117"/>
            <a:ext cx="1285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从感知到决策的闭环</a:t>
            </a:r>
            <a:endParaRPr lang="en-US" sz="987" dirty="0"/>
          </a:p>
        </p:txBody>
      </p:sp>
      <p:sp>
        <p:nvSpPr>
          <p:cNvPr id="20" name="Text 12"/>
          <p:cNvSpPr/>
          <p:nvPr/>
        </p:nvSpPr>
        <p:spPr>
          <a:xfrm>
            <a:off x="5322094" y="4088011"/>
            <a:ext cx="3071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实现了从底层硬件感知数据，到云端处理分析，再到顶层管理决策的完整物联网价值链条。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核心总结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87648"/>
            <a:ext cx="3893344" cy="71437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430536"/>
            <a:ext cx="26404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4165" y="1318022"/>
            <a:ext cx="298636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校园一卡通是物联网技术在校园场景的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典型落地案例</a:t>
            </a:r>
            <a:endParaRPr lang="en-US" sz="1090" dirty="0"/>
          </a:p>
        </p:txBody>
      </p:sp>
      <p:sp>
        <p:nvSpPr>
          <p:cNvPr id="7" name="Shape 3"/>
          <p:cNvSpPr/>
          <p:nvPr/>
        </p:nvSpPr>
        <p:spPr>
          <a:xfrm>
            <a:off x="4679156" y="1187648"/>
            <a:ext cx="3893344" cy="71437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430536"/>
            <a:ext cx="293368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01149" y="1318022"/>
            <a:ext cx="29570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三层架构支撑了“感知-传输-应用”的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完整闭环</a:t>
            </a:r>
            <a:endParaRPr lang="en-US" sz="1090" dirty="0"/>
          </a:p>
        </p:txBody>
      </p:sp>
      <p:sp>
        <p:nvSpPr>
          <p:cNvPr id="10" name="Shape 5"/>
          <p:cNvSpPr/>
          <p:nvPr/>
        </p:nvSpPr>
        <p:spPr>
          <a:xfrm>
            <a:off x="571500" y="2116336"/>
            <a:ext cx="3893344" cy="71437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359223"/>
            <a:ext cx="282039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2164" y="2246709"/>
            <a:ext cx="296836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技术细节（加密、并发、嵌入式）保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障系统稳定</a:t>
            </a:r>
            <a:endParaRPr lang="en-US" sz="1090" dirty="0"/>
          </a:p>
        </p:txBody>
      </p:sp>
      <p:sp>
        <p:nvSpPr>
          <p:cNvPr id="13" name="Shape 7"/>
          <p:cNvSpPr/>
          <p:nvPr/>
        </p:nvSpPr>
        <p:spPr>
          <a:xfrm>
            <a:off x="4679156" y="2116336"/>
            <a:ext cx="3893344" cy="714375"/>
          </a:xfrm>
          <a:prstGeom prst="rect">
            <a:avLst/>
          </a:prstGeom>
          <a:solidFill>
            <a:srgbClr val="2D2D2D"/>
          </a:solidFill>
          <a:ln w="9144">
            <a:solidFill>
              <a:srgbClr val="3D3D3D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2359223"/>
            <a:ext cx="260245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68026" y="2246709"/>
            <a:ext cx="299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开源项目验证了物联网从“技术”到“场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景”的落地逻辑</a:t>
            </a:r>
            <a:endParaRPr lang="en-US" sz="1090" dirty="0"/>
          </a:p>
        </p:txBody>
      </p:sp>
      <p:sp>
        <p:nvSpPr>
          <p:cNvPr id="16" name="Text 9"/>
          <p:cNvSpPr/>
          <p:nvPr/>
        </p:nvSpPr>
        <p:spPr>
          <a:xfrm>
            <a:off x="0" y="3259336"/>
            <a:ext cx="91440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97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感谢您的聆听！</a:t>
            </a:r>
            <a:endParaRPr lang="en-US" sz="18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2026-03-15T11:33:15Z</dcterms:created>
  <dcterms:modified xsi:type="dcterms:W3CDTF">2026-03-15T11:33:15Z</dcterms:modified>
</cp:coreProperties>
</file>