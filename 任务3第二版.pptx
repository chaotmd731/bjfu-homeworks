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189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936514"/>
            <a:ext cx="7143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物联网技术应用与校园一卡通系统实践深度解析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743200" y="3205200"/>
            <a:ext cx="365760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从典型应用场景到核心架构深度解析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3726359" y="4527352"/>
            <a:ext cx="1192634" cy="1465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汇报人：</a:t>
            </a:r>
            <a:r>
              <a:rPr lang="en-US" altLang="zh-CN" sz="942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2026年3月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目录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187648"/>
            <a:ext cx="3893344" cy="755452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5813" y="1409105"/>
            <a:ext cx="357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1321594" y="1441252"/>
            <a:ext cx="18859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物联网典型应用场景实践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4679156" y="1187648"/>
            <a:ext cx="3893344" cy="755452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893469" y="1401961"/>
            <a:ext cx="357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5429250" y="1434108"/>
            <a:ext cx="27432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课题背景：一卡通系统的物联网本质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571500" y="2143125"/>
            <a:ext cx="3893344" cy="755452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85813" y="2364581"/>
            <a:ext cx="357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8" dirty="0"/>
          </a:p>
        </p:txBody>
      </p:sp>
      <p:sp>
        <p:nvSpPr>
          <p:cNvPr id="12" name="Text 9"/>
          <p:cNvSpPr/>
          <p:nvPr/>
        </p:nvSpPr>
        <p:spPr>
          <a:xfrm>
            <a:off x="1321594" y="2396728"/>
            <a:ext cx="25717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体系架构：校园一卡通的三层模型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4679156" y="2143125"/>
            <a:ext cx="3893344" cy="755452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893469" y="2357438"/>
            <a:ext cx="357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8" dirty="0"/>
          </a:p>
        </p:txBody>
      </p:sp>
      <p:sp>
        <p:nvSpPr>
          <p:cNvPr id="15" name="Text 12"/>
          <p:cNvSpPr/>
          <p:nvPr/>
        </p:nvSpPr>
        <p:spPr>
          <a:xfrm>
            <a:off x="5429250" y="2389584"/>
            <a:ext cx="25717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核心技术：关键维度与物联网特性</a:t>
            </a:r>
            <a:endParaRPr lang="en-US" sz="1193" dirty="0"/>
          </a:p>
        </p:txBody>
      </p:sp>
      <p:sp>
        <p:nvSpPr>
          <p:cNvPr id="16" name="Shape 13"/>
          <p:cNvSpPr/>
          <p:nvPr/>
        </p:nvSpPr>
        <p:spPr>
          <a:xfrm>
            <a:off x="571500" y="3098602"/>
            <a:ext cx="3893344" cy="755452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785813" y="3320058"/>
            <a:ext cx="357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808" dirty="0"/>
          </a:p>
        </p:txBody>
      </p:sp>
      <p:sp>
        <p:nvSpPr>
          <p:cNvPr id="18" name="Text 15"/>
          <p:cNvSpPr/>
          <p:nvPr/>
        </p:nvSpPr>
        <p:spPr>
          <a:xfrm>
            <a:off x="1321594" y="3352205"/>
            <a:ext cx="255567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项目实践：cardSystem 落地逻辑</a:t>
            </a:r>
            <a:endParaRPr lang="en-US" sz="1193" dirty="0"/>
          </a:p>
        </p:txBody>
      </p:sp>
      <p:sp>
        <p:nvSpPr>
          <p:cNvPr id="19" name="Shape 16"/>
          <p:cNvSpPr/>
          <p:nvPr/>
        </p:nvSpPr>
        <p:spPr>
          <a:xfrm>
            <a:off x="4679156" y="3098602"/>
            <a:ext cx="3893344" cy="755452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4893469" y="3312914"/>
            <a:ext cx="357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808" dirty="0"/>
          </a:p>
        </p:txBody>
      </p:sp>
      <p:sp>
        <p:nvSpPr>
          <p:cNvPr id="21" name="Text 18"/>
          <p:cNvSpPr/>
          <p:nvPr/>
        </p:nvSpPr>
        <p:spPr>
          <a:xfrm>
            <a:off x="5429250" y="3345061"/>
            <a:ext cx="24003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总结延伸：技术价值与数据应用</a:t>
            </a:r>
            <a:endParaRPr lang="en-US" sz="119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物联网应用实践（一）：智能门禁与共享单车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973336"/>
            <a:ext cx="3857625" cy="371475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179612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0131" y="1151930"/>
            <a:ext cx="12573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校园智能门禁系统</a:t>
            </a:r>
            <a:endParaRPr lang="en-US" sz="1090" dirty="0"/>
          </a:p>
        </p:txBody>
      </p:sp>
      <p:sp>
        <p:nvSpPr>
          <p:cNvPr id="7" name="Shape 3"/>
          <p:cNvSpPr/>
          <p:nvPr/>
        </p:nvSpPr>
        <p:spPr>
          <a:xfrm>
            <a:off x="750094" y="1521619"/>
            <a:ext cx="3500438" cy="14287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3093244"/>
            <a:ext cx="100013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21544" y="3093244"/>
            <a:ext cx="211812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核心功能：RFID/人脸识别开启，远程授权</a:t>
            </a:r>
            <a:endParaRPr lang="en-US" sz="834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343275"/>
            <a:ext cx="100013" cy="12858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921544" y="3343275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6"/>
          <p:cNvSpPr/>
          <p:nvPr/>
        </p:nvSpPr>
        <p:spPr>
          <a:xfrm>
            <a:off x="921544" y="3343275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感知层</a:t>
            </a:r>
            <a:endParaRPr lang="en-US" sz="584" dirty="0"/>
          </a:p>
        </p:txBody>
      </p:sp>
      <p:sp>
        <p:nvSpPr>
          <p:cNvPr id="14" name="Text 7"/>
          <p:cNvSpPr/>
          <p:nvPr/>
        </p:nvSpPr>
        <p:spPr>
          <a:xfrm>
            <a:off x="1350169" y="3343275"/>
            <a:ext cx="151090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RFID读卡器、人脸识别摄像头</a:t>
            </a:r>
            <a:endParaRPr lang="en-US" sz="834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593306"/>
            <a:ext cx="100013" cy="12858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921544" y="3593306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9"/>
          <p:cNvSpPr/>
          <p:nvPr/>
        </p:nvSpPr>
        <p:spPr>
          <a:xfrm>
            <a:off x="921544" y="3593306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网络层</a:t>
            </a:r>
            <a:endParaRPr lang="en-US" sz="584" dirty="0"/>
          </a:p>
        </p:txBody>
      </p:sp>
      <p:sp>
        <p:nvSpPr>
          <p:cNvPr id="18" name="Text 10"/>
          <p:cNvSpPr/>
          <p:nvPr/>
        </p:nvSpPr>
        <p:spPr>
          <a:xfrm>
            <a:off x="1350169" y="3593306"/>
            <a:ext cx="9983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以太网 / Wi-Fi 传输</a:t>
            </a:r>
            <a:endParaRPr lang="en-US" sz="834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843338"/>
            <a:ext cx="100013" cy="128588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921544" y="3843338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2"/>
          <p:cNvSpPr/>
          <p:nvPr/>
        </p:nvSpPr>
        <p:spPr>
          <a:xfrm>
            <a:off x="921544" y="3843338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应用层</a:t>
            </a:r>
            <a:endParaRPr lang="en-US" sz="584" dirty="0"/>
          </a:p>
        </p:txBody>
      </p:sp>
      <p:sp>
        <p:nvSpPr>
          <p:cNvPr id="22" name="Text 13"/>
          <p:cNvSpPr/>
          <p:nvPr/>
        </p:nvSpPr>
        <p:spPr>
          <a:xfrm>
            <a:off x="1350169" y="3843338"/>
            <a:ext cx="11465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Web管理端、手机App</a:t>
            </a:r>
            <a:endParaRPr lang="en-US" sz="834" dirty="0"/>
          </a:p>
        </p:txBody>
      </p:sp>
      <p:sp>
        <p:nvSpPr>
          <p:cNvPr id="23" name="Shape 14"/>
          <p:cNvSpPr/>
          <p:nvPr/>
        </p:nvSpPr>
        <p:spPr>
          <a:xfrm>
            <a:off x="4714875" y="973336"/>
            <a:ext cx="3857625" cy="371475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1179612"/>
            <a:ext cx="214313" cy="17145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14938" y="1151930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共享单车智能锁</a:t>
            </a:r>
            <a:endParaRPr lang="en-US" sz="1090" dirty="0"/>
          </a:p>
        </p:txBody>
      </p:sp>
      <p:sp>
        <p:nvSpPr>
          <p:cNvPr id="26" name="Shape 16"/>
          <p:cNvSpPr/>
          <p:nvPr/>
        </p:nvSpPr>
        <p:spPr>
          <a:xfrm>
            <a:off x="4893469" y="1521619"/>
            <a:ext cx="3500438" cy="14287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1496617"/>
            <a:ext cx="3500438" cy="1428750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093244"/>
            <a:ext cx="100013" cy="1285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064919" y="3093244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核心功能：扫码开锁、骑行计费、定位结算</a:t>
            </a:r>
            <a:endParaRPr lang="en-US" sz="834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3343275"/>
            <a:ext cx="100013" cy="128588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5064919" y="3343275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19"/>
          <p:cNvSpPr/>
          <p:nvPr/>
        </p:nvSpPr>
        <p:spPr>
          <a:xfrm>
            <a:off x="5064919" y="3343275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感知层</a:t>
            </a:r>
            <a:endParaRPr lang="en-US" sz="584" dirty="0"/>
          </a:p>
        </p:txBody>
      </p:sp>
      <p:sp>
        <p:nvSpPr>
          <p:cNvPr id="33" name="Text 20"/>
          <p:cNvSpPr/>
          <p:nvPr/>
        </p:nvSpPr>
        <p:spPr>
          <a:xfrm>
            <a:off x="5493544" y="3343275"/>
            <a:ext cx="12608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GPS、蓝牙、车锁传感器</a:t>
            </a:r>
            <a:endParaRPr lang="en-US" sz="834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3593306"/>
            <a:ext cx="100013" cy="128588"/>
          </a:xfrm>
          <a:prstGeom prst="rect">
            <a:avLst/>
          </a:prstGeom>
        </p:spPr>
      </p:pic>
      <p:sp>
        <p:nvSpPr>
          <p:cNvPr id="35" name="Shape 21"/>
          <p:cNvSpPr/>
          <p:nvPr/>
        </p:nvSpPr>
        <p:spPr>
          <a:xfrm>
            <a:off x="5064919" y="3593306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2"/>
          <p:cNvSpPr/>
          <p:nvPr/>
        </p:nvSpPr>
        <p:spPr>
          <a:xfrm>
            <a:off x="5064919" y="3593306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网络层</a:t>
            </a:r>
            <a:endParaRPr lang="en-US" sz="584" dirty="0"/>
          </a:p>
        </p:txBody>
      </p:sp>
      <p:sp>
        <p:nvSpPr>
          <p:cNvPr id="37" name="Text 23"/>
          <p:cNvSpPr/>
          <p:nvPr/>
        </p:nvSpPr>
        <p:spPr>
          <a:xfrm>
            <a:off x="5493544" y="3593306"/>
            <a:ext cx="10322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2G/4G/NB-IoT 传输</a:t>
            </a:r>
            <a:endParaRPr lang="en-US" sz="834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3843338"/>
            <a:ext cx="100013" cy="128588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23AB8DCC-B06C-6F26-F5BA-4DE366C0ABB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93" y="1526344"/>
            <a:ext cx="1893158" cy="1419299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5064919" y="3843338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25"/>
          <p:cNvSpPr/>
          <p:nvPr/>
        </p:nvSpPr>
        <p:spPr>
          <a:xfrm>
            <a:off x="5064919" y="3843338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应用层</a:t>
            </a:r>
            <a:endParaRPr lang="en-US" sz="584" dirty="0"/>
          </a:p>
        </p:txBody>
      </p:sp>
      <p:sp>
        <p:nvSpPr>
          <p:cNvPr id="41" name="Text 26"/>
          <p:cNvSpPr/>
          <p:nvPr/>
        </p:nvSpPr>
        <p:spPr>
          <a:xfrm>
            <a:off x="5493544" y="3843338"/>
            <a:ext cx="124658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用户App（导航、支付）</a:t>
            </a:r>
            <a:endParaRPr lang="en-US" sz="834" dirty="0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A632B782-F05B-D771-87C2-5F86F54488E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374" y="1521289"/>
            <a:ext cx="1893158" cy="14192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物联网应用实践（二）：快递柜与路灯控制系统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973336"/>
            <a:ext cx="3857625" cy="371475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179612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1563" y="1151930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智能快递柜系统</a:t>
            </a:r>
            <a:endParaRPr lang="en-US" sz="1090" dirty="0"/>
          </a:p>
        </p:txBody>
      </p:sp>
      <p:sp>
        <p:nvSpPr>
          <p:cNvPr id="7" name="Shape 3"/>
          <p:cNvSpPr/>
          <p:nvPr/>
        </p:nvSpPr>
        <p:spPr>
          <a:xfrm>
            <a:off x="750094" y="1521619"/>
            <a:ext cx="3500438" cy="14287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3093244"/>
            <a:ext cx="100013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21544" y="3093244"/>
            <a:ext cx="19431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核心功能：取件码开箱、包裹状态检测</a:t>
            </a:r>
            <a:endParaRPr lang="en-US" sz="834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343275"/>
            <a:ext cx="100013" cy="12858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921544" y="3343275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6"/>
          <p:cNvSpPr/>
          <p:nvPr/>
        </p:nvSpPr>
        <p:spPr>
          <a:xfrm>
            <a:off x="921544" y="3343275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感知层</a:t>
            </a:r>
            <a:endParaRPr lang="en-US" sz="584" dirty="0"/>
          </a:p>
        </p:txBody>
      </p:sp>
      <p:sp>
        <p:nvSpPr>
          <p:cNvPr id="14" name="Text 7"/>
          <p:cNvSpPr/>
          <p:nvPr/>
        </p:nvSpPr>
        <p:spPr>
          <a:xfrm>
            <a:off x="1350169" y="3343275"/>
            <a:ext cx="14859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电磁锁、触摸屏、红外传感器</a:t>
            </a:r>
            <a:endParaRPr lang="en-US" sz="834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593306"/>
            <a:ext cx="100013" cy="12858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921544" y="3593306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9"/>
          <p:cNvSpPr/>
          <p:nvPr/>
        </p:nvSpPr>
        <p:spPr>
          <a:xfrm>
            <a:off x="921544" y="3593306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网络层</a:t>
            </a:r>
            <a:endParaRPr lang="en-US" sz="584" dirty="0"/>
          </a:p>
        </p:txBody>
      </p:sp>
      <p:sp>
        <p:nvSpPr>
          <p:cNvPr id="18" name="Text 10"/>
          <p:cNvSpPr/>
          <p:nvPr/>
        </p:nvSpPr>
        <p:spPr>
          <a:xfrm>
            <a:off x="1350169" y="3593306"/>
            <a:ext cx="109656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4G / 以太网 连接云端</a:t>
            </a:r>
            <a:endParaRPr lang="en-US" sz="834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843338"/>
            <a:ext cx="100013" cy="128588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921544" y="3843338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2"/>
          <p:cNvSpPr/>
          <p:nvPr/>
        </p:nvSpPr>
        <p:spPr>
          <a:xfrm>
            <a:off x="921544" y="3843338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应用层</a:t>
            </a:r>
            <a:endParaRPr lang="en-US" sz="584" dirty="0"/>
          </a:p>
        </p:txBody>
      </p:sp>
      <p:sp>
        <p:nvSpPr>
          <p:cNvPr id="22" name="Text 13"/>
          <p:cNvSpPr/>
          <p:nvPr/>
        </p:nvSpPr>
        <p:spPr>
          <a:xfrm>
            <a:off x="1350169" y="3843338"/>
            <a:ext cx="128766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微信/App取件、操作终端</a:t>
            </a:r>
            <a:endParaRPr lang="en-US" sz="834" dirty="0"/>
          </a:p>
        </p:txBody>
      </p:sp>
      <p:sp>
        <p:nvSpPr>
          <p:cNvPr id="23" name="Shape 14"/>
          <p:cNvSpPr/>
          <p:nvPr/>
        </p:nvSpPr>
        <p:spPr>
          <a:xfrm>
            <a:off x="4714875" y="973336"/>
            <a:ext cx="3857625" cy="371475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1179612"/>
            <a:ext cx="128588" cy="17145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29213" y="1151930"/>
            <a:ext cx="12573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智能路灯控制系统</a:t>
            </a:r>
            <a:endParaRPr lang="en-US" sz="1090" dirty="0"/>
          </a:p>
        </p:txBody>
      </p:sp>
      <p:sp>
        <p:nvSpPr>
          <p:cNvPr id="26" name="Shape 16"/>
          <p:cNvSpPr/>
          <p:nvPr/>
        </p:nvSpPr>
        <p:spPr>
          <a:xfrm>
            <a:off x="4893469" y="1521619"/>
            <a:ext cx="3500438" cy="14287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093244"/>
            <a:ext cx="100013" cy="1285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064919" y="3093244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核心功能：自动调光、节能降耗、故障报警</a:t>
            </a:r>
            <a:endParaRPr lang="en-US" sz="834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3343275"/>
            <a:ext cx="100013" cy="128588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5064919" y="3343275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19"/>
          <p:cNvSpPr/>
          <p:nvPr/>
        </p:nvSpPr>
        <p:spPr>
          <a:xfrm>
            <a:off x="5064919" y="3343275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感知层</a:t>
            </a:r>
            <a:endParaRPr lang="en-US" sz="584" dirty="0"/>
          </a:p>
        </p:txBody>
      </p:sp>
      <p:sp>
        <p:nvSpPr>
          <p:cNvPr id="33" name="Text 20"/>
          <p:cNvSpPr/>
          <p:nvPr/>
        </p:nvSpPr>
        <p:spPr>
          <a:xfrm>
            <a:off x="5493544" y="3343275"/>
            <a:ext cx="1257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光照传感器、红外传感器</a:t>
            </a:r>
            <a:endParaRPr lang="en-US" sz="834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3593306"/>
            <a:ext cx="100013" cy="128588"/>
          </a:xfrm>
          <a:prstGeom prst="rect">
            <a:avLst/>
          </a:prstGeom>
        </p:spPr>
      </p:pic>
      <p:sp>
        <p:nvSpPr>
          <p:cNvPr id="35" name="Shape 21"/>
          <p:cNvSpPr/>
          <p:nvPr/>
        </p:nvSpPr>
        <p:spPr>
          <a:xfrm>
            <a:off x="5064919" y="3593306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2"/>
          <p:cNvSpPr/>
          <p:nvPr/>
        </p:nvSpPr>
        <p:spPr>
          <a:xfrm>
            <a:off x="5064919" y="3593306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网络层</a:t>
            </a:r>
            <a:endParaRPr lang="en-US" sz="584" dirty="0"/>
          </a:p>
        </p:txBody>
      </p:sp>
      <p:sp>
        <p:nvSpPr>
          <p:cNvPr id="37" name="Text 23"/>
          <p:cNvSpPr/>
          <p:nvPr/>
        </p:nvSpPr>
        <p:spPr>
          <a:xfrm>
            <a:off x="5493544" y="3593306"/>
            <a:ext cx="127694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 / ZigBee / 4G 传输</a:t>
            </a:r>
            <a:endParaRPr lang="en-US" sz="834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3843338"/>
            <a:ext cx="100013" cy="128588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5064919" y="3843338"/>
            <a:ext cx="371475" cy="15359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25"/>
          <p:cNvSpPr/>
          <p:nvPr/>
        </p:nvSpPr>
        <p:spPr>
          <a:xfrm>
            <a:off x="5064919" y="3843338"/>
            <a:ext cx="371475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应用层</a:t>
            </a:r>
            <a:endParaRPr lang="en-US" sz="584" dirty="0"/>
          </a:p>
        </p:txBody>
      </p:sp>
      <p:sp>
        <p:nvSpPr>
          <p:cNvPr id="41" name="Text 26"/>
          <p:cNvSpPr/>
          <p:nvPr/>
        </p:nvSpPr>
        <p:spPr>
          <a:xfrm>
            <a:off x="5493544" y="3843338"/>
            <a:ext cx="14859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管理后台（地图展示、调光）</a:t>
            </a:r>
            <a:endParaRPr lang="en-US" sz="834" dirty="0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13361F34-CF30-D431-533D-EE6A43BB52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1508990"/>
            <a:ext cx="2402673" cy="1428749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E3E2D2FD-056A-04D4-0940-94A9604A41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6734" y="1508989"/>
            <a:ext cx="1835129" cy="142875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9B8F165C-D3FC-9B6B-8D78-8403971843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7953" y="1509391"/>
            <a:ext cx="1984443" cy="142834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B0DC90AE-176D-85DC-81ED-57EEEF3017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2154" y="1509391"/>
            <a:ext cx="1705982" cy="14409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课题背景：一卡通系统的物联网本质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4286250" cy="1285875"/>
          </a:xfrm>
          <a:prstGeom prst="rect">
            <a:avLst/>
          </a:prstGeom>
          <a:solidFill>
            <a:srgbClr val="1E1E1E"/>
          </a:solidFill>
          <a:ln w="9144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5813" y="1259086"/>
            <a:ext cx="385762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核心结论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85813" y="1614488"/>
            <a:ext cx="3857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校园一卡通是集感知、传输、处理、应用于一体的完整物联网闭环系统，不只是一张塑料卡片。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44961"/>
            <a:ext cx="192881" cy="2071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7256" y="2544961"/>
            <a:ext cx="34575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身份识别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907256" y="2828925"/>
            <a:ext cx="34575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数字化解决“你是谁”的问题，涵盖宿舍、实验楼门禁及考勤。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95042"/>
            <a:ext cx="171450" cy="2071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5825" y="3195042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支付结算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885825" y="3479006"/>
            <a:ext cx="3714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数字化解决“你花了多少钱”的问题，涉及食堂、超市及水电缴纳。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5357813" y="1044773"/>
            <a:ext cx="3214688" cy="157162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556" y="1330523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43563" y="1930598"/>
            <a:ext cx="2643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典型场景：智慧校园全覆盖</a:t>
            </a:r>
            <a:endParaRPr lang="en-US" sz="987" dirty="0"/>
          </a:p>
        </p:txBody>
      </p:sp>
      <p:sp>
        <p:nvSpPr>
          <p:cNvPr id="16" name="Shape 10"/>
          <p:cNvSpPr/>
          <p:nvPr/>
        </p:nvSpPr>
        <p:spPr>
          <a:xfrm>
            <a:off x="5357813" y="2759273"/>
            <a:ext cx="3214688" cy="1571625"/>
          </a:xfrm>
          <a:prstGeom prst="rect">
            <a:avLst/>
          </a:prstGeom>
          <a:solidFill>
            <a:srgbClr val="1E1E1E"/>
          </a:solidFill>
          <a:ln w="9144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7981" y="3045023"/>
            <a:ext cx="51435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43563" y="3645098"/>
            <a:ext cx="2643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感知-传输-处理-应用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体系架构总览：三层模型完美适配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044773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校园一卡通系统严格遵循物联网标准三层架构，实现了从物理感知到云端处理的完整闭环。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59123"/>
            <a:ext cx="8001000" cy="3177183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571500" y="1559123"/>
            <a:ext cx="2000250" cy="591145"/>
          </a:xfrm>
          <a:prstGeom prst="rect">
            <a:avLst/>
          </a:prstGeom>
          <a:solidFill>
            <a:srgbClr val="3D3D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571500" y="2135981"/>
            <a:ext cx="2000250" cy="14288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71500" y="1559123"/>
            <a:ext cx="2000250" cy="591145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架构层级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2571750" y="1559123"/>
            <a:ext cx="1600200" cy="591145"/>
          </a:xfrm>
          <a:prstGeom prst="rect">
            <a:avLst/>
          </a:prstGeom>
          <a:solidFill>
            <a:srgbClr val="3D3D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2571750" y="2135981"/>
            <a:ext cx="1600200" cy="14288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2571750" y="1559123"/>
            <a:ext cx="1600200" cy="591145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定位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4171950" y="1559123"/>
            <a:ext cx="4400550" cy="591145"/>
          </a:xfrm>
          <a:prstGeom prst="rect">
            <a:avLst/>
          </a:prstGeom>
          <a:solidFill>
            <a:srgbClr val="3D3D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4171950" y="2135981"/>
            <a:ext cx="4400550" cy="14288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171950" y="1559123"/>
            <a:ext cx="4400550" cy="591145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核心作用与体现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750094" y="2321719"/>
            <a:ext cx="1643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感知识别层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750094" y="2593181"/>
            <a:ext cx="987623" cy="221456"/>
          </a:xfrm>
          <a:prstGeom prst="rect">
            <a:avLst/>
          </a:prstGeom>
          <a:solidFill>
            <a:srgbClr val="1E1E1E"/>
          </a:solidFill>
          <a:ln w="9144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750094" y="2593181"/>
            <a:ext cx="987623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Perception Layer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2571750" y="2143125"/>
            <a:ext cx="1600200" cy="83939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系统的触角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171950" y="2143125"/>
            <a:ext cx="4400550" cy="83939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采集终端数据（如刷卡、人脸识别）、触发消费或通行事件。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750094" y="3164681"/>
            <a:ext cx="1643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网络传输层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750094" y="3436144"/>
            <a:ext cx="878681" cy="221456"/>
          </a:xfrm>
          <a:prstGeom prst="rect">
            <a:avLst/>
          </a:prstGeom>
          <a:solidFill>
            <a:srgbClr val="1E1E1E"/>
          </a:solidFill>
          <a:ln w="9144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750094" y="3436144"/>
            <a:ext cx="878681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Layer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2571750" y="2982516"/>
            <a:ext cx="1600200" cy="84296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系统的神经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4171950" y="2982516"/>
            <a:ext cx="4400550" cy="84296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安全传输感知层采集的数据，保障交易数据的实时性与准确性。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750094" y="4007644"/>
            <a:ext cx="1643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应用支撑层</a:t>
            </a:r>
            <a:endParaRPr lang="en-US" sz="987" dirty="0"/>
          </a:p>
        </p:txBody>
      </p:sp>
      <p:sp>
        <p:nvSpPr>
          <p:cNvPr id="26" name="Shape 23"/>
          <p:cNvSpPr/>
          <p:nvPr/>
        </p:nvSpPr>
        <p:spPr>
          <a:xfrm>
            <a:off x="750094" y="4279106"/>
            <a:ext cx="1007269" cy="221456"/>
          </a:xfrm>
          <a:prstGeom prst="rect">
            <a:avLst/>
          </a:prstGeom>
          <a:solidFill>
            <a:srgbClr val="1E1E1E"/>
          </a:solidFill>
          <a:ln w="9144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750094" y="4279106"/>
            <a:ext cx="1007269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Layer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2571750" y="3825478"/>
            <a:ext cx="1600200" cy="83939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系统的大脑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4171950" y="3825478"/>
            <a:ext cx="4400550" cy="83939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处理复杂的业务逻辑（如扣费、授权）、存储并分析海量流水数据。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感知识别层（Perception Layer）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3046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“系统的触角”：数据采集的核心层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323380"/>
            <a:ext cx="3857625" cy="321468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61802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2994" y="1537692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核心技术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785813" y="2000250"/>
            <a:ext cx="3429000" cy="500063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8" y="2232422"/>
            <a:ext cx="125016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96578" y="2210098"/>
            <a:ext cx="177700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RFID (M1卡) / NFC 非接触识别</a:t>
            </a:r>
            <a:endParaRPr lang="en-US" sz="885" dirty="0"/>
          </a:p>
        </p:txBody>
      </p:sp>
      <p:sp>
        <p:nvSpPr>
          <p:cNvPr id="11" name="Shape 6"/>
          <p:cNvSpPr/>
          <p:nvPr/>
        </p:nvSpPr>
        <p:spPr>
          <a:xfrm>
            <a:off x="785813" y="2678906"/>
            <a:ext cx="3429000" cy="500063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8" y="2911078"/>
            <a:ext cx="125016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6578" y="2888754"/>
            <a:ext cx="143589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二维码 / 动态码 移动支付</a:t>
            </a:r>
            <a:endParaRPr lang="en-US" sz="885" dirty="0"/>
          </a:p>
        </p:txBody>
      </p:sp>
      <p:sp>
        <p:nvSpPr>
          <p:cNvPr id="14" name="Shape 8"/>
          <p:cNvSpPr/>
          <p:nvPr/>
        </p:nvSpPr>
        <p:spPr>
          <a:xfrm>
            <a:off x="785813" y="3357563"/>
            <a:ext cx="3429000" cy="500063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88" y="3589734"/>
            <a:ext cx="178594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50156" y="3567410"/>
            <a:ext cx="131980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人脸识别 生物特征核验</a:t>
            </a:r>
            <a:endParaRPr lang="en-US" sz="885" dirty="0"/>
          </a:p>
        </p:txBody>
      </p:sp>
      <p:sp>
        <p:nvSpPr>
          <p:cNvPr id="17" name="Shape 10"/>
          <p:cNvSpPr/>
          <p:nvPr/>
        </p:nvSpPr>
        <p:spPr>
          <a:xfrm>
            <a:off x="4714875" y="1323380"/>
            <a:ext cx="3857625" cy="321468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1561802"/>
            <a:ext cx="200025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36369" y="1537692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核心硬件</a:t>
            </a:r>
            <a:endParaRPr lang="en-US" sz="1193" dirty="0"/>
          </a:p>
        </p:txBody>
      </p:sp>
      <p:sp>
        <p:nvSpPr>
          <p:cNvPr id="20" name="Text 12"/>
          <p:cNvSpPr/>
          <p:nvPr/>
        </p:nvSpPr>
        <p:spPr>
          <a:xfrm>
            <a:off x="4929188" y="2000250"/>
            <a:ext cx="34290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IC卡终端</a:t>
            </a:r>
            <a:endParaRPr lang="en-US" sz="885" dirty="0"/>
          </a:p>
        </p:txBody>
      </p:sp>
      <p:sp>
        <p:nvSpPr>
          <p:cNvPr id="21" name="Text 13"/>
          <p:cNvSpPr/>
          <p:nvPr/>
        </p:nvSpPr>
        <p:spPr>
          <a:xfrm>
            <a:off x="4929188" y="2244923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存储用户UID和加密扇区数据，实现离线/在线双重校验。</a:t>
            </a:r>
            <a:endParaRPr lang="en-US" sz="834" dirty="0"/>
          </a:p>
        </p:txBody>
      </p:sp>
      <p:sp>
        <p:nvSpPr>
          <p:cNvPr id="22" name="Text 14"/>
          <p:cNvSpPr/>
          <p:nvPr/>
        </p:nvSpPr>
        <p:spPr>
          <a:xfrm>
            <a:off x="4929188" y="2673548"/>
            <a:ext cx="34290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读卡器 / POS机</a:t>
            </a:r>
            <a:endParaRPr lang="en-US" sz="885" dirty="0"/>
          </a:p>
        </p:txBody>
      </p:sp>
      <p:sp>
        <p:nvSpPr>
          <p:cNvPr id="23" name="Text 15"/>
          <p:cNvSpPr/>
          <p:nvPr/>
        </p:nvSpPr>
        <p:spPr>
          <a:xfrm>
            <a:off x="4929188" y="2918222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通过电磁感应读取卡片信息，作为感知层与网络层的桥梁。</a:t>
            </a:r>
            <a:endParaRPr lang="en-US" sz="834" dirty="0"/>
          </a:p>
        </p:txBody>
      </p:sp>
      <p:sp>
        <p:nvSpPr>
          <p:cNvPr id="24" name="Text 16"/>
          <p:cNvSpPr/>
          <p:nvPr/>
        </p:nvSpPr>
        <p:spPr>
          <a:xfrm>
            <a:off x="4929188" y="3346847"/>
            <a:ext cx="34290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传感器集成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4929188" y="3591520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水控机流量传感器、电控电流互感器，实现资源消耗的实时感知。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网络传输层（Network Layer）：“系统的神经”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79599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109" y="1044773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多样化通信协议</a:t>
            </a:r>
            <a:endParaRPr lang="en-US" sz="1090" dirty="0"/>
          </a:p>
        </p:txBody>
      </p:sp>
      <p:sp>
        <p:nvSpPr>
          <p:cNvPr id="6" name="Shape 2"/>
          <p:cNvSpPr/>
          <p:nvPr/>
        </p:nvSpPr>
        <p:spPr>
          <a:xfrm>
            <a:off x="571500" y="1450181"/>
            <a:ext cx="3857625" cy="64293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714375" y="1664494"/>
            <a:ext cx="357188" cy="357188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31" y="1771650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14438" y="1662708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TCP/IP (以太网)</a:t>
            </a:r>
            <a:endParaRPr lang="en-US" sz="885" dirty="0"/>
          </a:p>
        </p:txBody>
      </p:sp>
      <p:sp>
        <p:nvSpPr>
          <p:cNvPr id="10" name="Text 5"/>
          <p:cNvSpPr/>
          <p:nvPr/>
        </p:nvSpPr>
        <p:spPr>
          <a:xfrm>
            <a:off x="1214438" y="1878806"/>
            <a:ext cx="15001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骨干网传输，保障高带宽与稳定性</a:t>
            </a:r>
            <a:endParaRPr lang="en-US" sz="727" dirty="0"/>
          </a:p>
        </p:txBody>
      </p:sp>
      <p:sp>
        <p:nvSpPr>
          <p:cNvPr id="11" name="Shape 6"/>
          <p:cNvSpPr/>
          <p:nvPr/>
        </p:nvSpPr>
        <p:spPr>
          <a:xfrm>
            <a:off x="571500" y="2200275"/>
            <a:ext cx="3857625" cy="64293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7"/>
          <p:cNvSpPr/>
          <p:nvPr/>
        </p:nvSpPr>
        <p:spPr>
          <a:xfrm>
            <a:off x="714375" y="2414588"/>
            <a:ext cx="357188" cy="357188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31" y="2521744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14438" y="2412802"/>
            <a:ext cx="16002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RS-485 总线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214438" y="2628900"/>
            <a:ext cx="16002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工业级标准，常用于近距离终端连接</a:t>
            </a:r>
            <a:endParaRPr lang="en-US" sz="727" dirty="0"/>
          </a:p>
        </p:txBody>
      </p:sp>
      <p:sp>
        <p:nvSpPr>
          <p:cNvPr id="16" name="Shape 10"/>
          <p:cNvSpPr/>
          <p:nvPr/>
        </p:nvSpPr>
        <p:spPr>
          <a:xfrm>
            <a:off x="571500" y="2950369"/>
            <a:ext cx="3857625" cy="64293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1"/>
          <p:cNvSpPr/>
          <p:nvPr/>
        </p:nvSpPr>
        <p:spPr>
          <a:xfrm>
            <a:off x="714375" y="3164681"/>
            <a:ext cx="357188" cy="357188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602" y="3271838"/>
            <a:ext cx="160734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14438" y="3178969"/>
            <a:ext cx="17002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ZigBee / LoRa</a:t>
            </a:r>
            <a:endParaRPr lang="en-US" sz="885" dirty="0"/>
          </a:p>
        </p:txBody>
      </p:sp>
      <p:sp>
        <p:nvSpPr>
          <p:cNvPr id="20" name="Text 13"/>
          <p:cNvSpPr/>
          <p:nvPr/>
        </p:nvSpPr>
        <p:spPr>
          <a:xfrm>
            <a:off x="1214438" y="3362920"/>
            <a:ext cx="17002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低功耗广域网，适用于宿舍水表等节点</a:t>
            </a:r>
            <a:endParaRPr lang="en-US" sz="727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1079599"/>
            <a:ext cx="157163" cy="1571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979194" y="1044773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组网安全与隔离</a:t>
            </a:r>
            <a:endParaRPr lang="en-US" sz="1090" dirty="0"/>
          </a:p>
        </p:txBody>
      </p:sp>
      <p:sp>
        <p:nvSpPr>
          <p:cNvPr id="23" name="Shape 15"/>
          <p:cNvSpPr/>
          <p:nvPr/>
        </p:nvSpPr>
        <p:spPr>
          <a:xfrm>
            <a:off x="4714875" y="1450181"/>
            <a:ext cx="3857625" cy="2893219"/>
          </a:xfrm>
          <a:prstGeom prst="rect">
            <a:avLst/>
          </a:prstGeom>
          <a:solidFill>
            <a:srgbClr val="1E1E1E"/>
          </a:solidFill>
          <a:ln w="9144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1703784"/>
            <a:ext cx="112514" cy="1285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27427" y="1664494"/>
            <a:ext cx="1285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校园骨干网专网隔离</a:t>
            </a:r>
            <a:endParaRPr lang="en-US" sz="987" dirty="0"/>
          </a:p>
        </p:txBody>
      </p:sp>
      <p:sp>
        <p:nvSpPr>
          <p:cNvPr id="26" name="Text 17"/>
          <p:cNvSpPr/>
          <p:nvPr/>
        </p:nvSpPr>
        <p:spPr>
          <a:xfrm>
            <a:off x="4929188" y="1943100"/>
            <a:ext cx="3429000" cy="3657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建立独立的逻辑或物理专网，确保一卡通交易数据不与校园外网混用，防止外部攻击。</a:t>
            </a:r>
            <a:endParaRPr lang="en-US" sz="834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2526711"/>
            <a:ext cx="160734" cy="1285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75647" y="2487420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终端准入控制</a:t>
            </a:r>
            <a:endParaRPr lang="en-US" sz="987" dirty="0"/>
          </a:p>
        </p:txBody>
      </p:sp>
      <p:sp>
        <p:nvSpPr>
          <p:cNvPr id="29" name="Text 19"/>
          <p:cNvSpPr/>
          <p:nvPr/>
        </p:nvSpPr>
        <p:spPr>
          <a:xfrm>
            <a:off x="4929188" y="2766027"/>
            <a:ext cx="3429000" cy="3657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严格的设备认证机制，只有经过授权的读卡器和POS机才能接入网络。</a:t>
            </a:r>
            <a:endParaRPr lang="en-US" sz="834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9188" y="3349637"/>
            <a:ext cx="96441" cy="1285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111353" y="3310347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交易数据加密</a:t>
            </a:r>
            <a:endParaRPr lang="en-US" sz="987" dirty="0"/>
          </a:p>
        </p:txBody>
      </p:sp>
      <p:sp>
        <p:nvSpPr>
          <p:cNvPr id="32" name="Text 21"/>
          <p:cNvSpPr/>
          <p:nvPr/>
        </p:nvSpPr>
        <p:spPr>
          <a:xfrm>
            <a:off x="4929188" y="3588953"/>
            <a:ext cx="3429000" cy="3657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传输过程中采用端到端加密，保障每一笔消费流水的真实性与不可篡改性。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应用支撑层（Application Layer）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2524116" cy="321468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59086"/>
            <a:ext cx="2095491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1687711"/>
            <a:ext cx="209549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技术栈架构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85813" y="2078831"/>
            <a:ext cx="209549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</a:t>
            </a:r>
            <a:r>
              <a:rPr lang="en-US" sz="7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</a:t>
            </a: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等主流后端框架，构建高性能、可扩展的业务处理中心。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928688" y="2633142"/>
            <a:ext cx="113049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API 接口设计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928688" y="2946016"/>
            <a:ext cx="9144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微服务化业务拆分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928688" y="3258889"/>
            <a:ext cx="1028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高并发异步处理机制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3309928" y="1044773"/>
            <a:ext cx="2524116" cy="321468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259086"/>
            <a:ext cx="2095491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4241" y="1687711"/>
            <a:ext cx="209549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核心数据中心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3524241" y="2078831"/>
            <a:ext cx="209549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集中存储与管理全校范围内的核心业务数据，确保数据的实时性与一致性。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3667116" y="2633142"/>
            <a:ext cx="1028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用户信息与生物特征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3667116" y="2946016"/>
            <a:ext cx="1028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卡片状态与实时余额</a:t>
            </a:r>
            <a:endParaRPr lang="en-US" sz="834" dirty="0"/>
          </a:p>
        </p:txBody>
      </p:sp>
      <p:sp>
        <p:nvSpPr>
          <p:cNvPr id="17" name="Text 12"/>
          <p:cNvSpPr/>
          <p:nvPr/>
        </p:nvSpPr>
        <p:spPr>
          <a:xfrm>
            <a:off x="3667116" y="3258889"/>
            <a:ext cx="9144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海量消费流水日志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6048356" y="1044773"/>
            <a:ext cx="2524144" cy="321468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259086"/>
            <a:ext cx="2095519" cy="285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2669" y="1687711"/>
            <a:ext cx="2095519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核心业务模块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6262669" y="2078831"/>
            <a:ext cx="20955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涵盖校园生活的方方面面，实现“一卡在手，走遍校园”的数字化体验。</a:t>
            </a:r>
            <a:endParaRPr lang="en-US" sz="834" dirty="0"/>
          </a:p>
        </p:txBody>
      </p:sp>
      <p:sp>
        <p:nvSpPr>
          <p:cNvPr id="22" name="Text 16"/>
          <p:cNvSpPr/>
          <p:nvPr/>
        </p:nvSpPr>
        <p:spPr>
          <a:xfrm>
            <a:off x="6405544" y="2633142"/>
            <a:ext cx="1143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支付结算：食堂、超市</a:t>
            </a:r>
            <a:endParaRPr lang="en-US" sz="834" dirty="0"/>
          </a:p>
        </p:txBody>
      </p:sp>
      <p:sp>
        <p:nvSpPr>
          <p:cNvPr id="23" name="Text 17"/>
          <p:cNvSpPr/>
          <p:nvPr/>
        </p:nvSpPr>
        <p:spPr>
          <a:xfrm>
            <a:off x="6405544" y="2946016"/>
            <a:ext cx="1143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资源管理：图书馆借阅</a:t>
            </a:r>
            <a:endParaRPr lang="en-US" sz="834" dirty="0"/>
          </a:p>
        </p:txBody>
      </p:sp>
      <p:sp>
        <p:nvSpPr>
          <p:cNvPr id="24" name="Text 18"/>
          <p:cNvSpPr/>
          <p:nvPr/>
        </p:nvSpPr>
        <p:spPr>
          <a:xfrm>
            <a:off x="6405544" y="3258889"/>
            <a:ext cx="1143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权限控制：宿舍、机房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核心技术点解析：关键维度与物联网特性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3893344" cy="1714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83196"/>
            <a:ext cx="285750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8719" y="1259086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射频通信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85813" y="1650206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 ISO/IEC 14443 协议（M1卡），实现非接触式近场数据交换。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785813" y="2168798"/>
            <a:ext cx="1371600" cy="20181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785813" y="2168798"/>
            <a:ext cx="1371600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物联网体现：近场数据交换</a:t>
            </a:r>
            <a:endParaRPr lang="en-US" sz="683" dirty="0"/>
          </a:p>
        </p:txBody>
      </p:sp>
      <p:sp>
        <p:nvSpPr>
          <p:cNvPr id="10" name="Shape 6"/>
          <p:cNvSpPr/>
          <p:nvPr/>
        </p:nvSpPr>
        <p:spPr>
          <a:xfrm>
            <a:off x="4679156" y="1044773"/>
            <a:ext cx="3893344" cy="1714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283196"/>
            <a:ext cx="285750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86375" y="1259086"/>
            <a:ext cx="8572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嵌入式开发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4893469" y="1650206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STM32/ESP32 驱动读卡模块，实现终端设备的边缘智能处理。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4893469" y="2168798"/>
            <a:ext cx="1171575" cy="20181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4893469" y="2168798"/>
            <a:ext cx="1171575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物联网体现：边缘智能</a:t>
            </a:r>
            <a:endParaRPr lang="en-US" sz="683" dirty="0"/>
          </a:p>
        </p:txBody>
      </p:sp>
      <p:sp>
        <p:nvSpPr>
          <p:cNvPr id="16" name="Shape 11"/>
          <p:cNvSpPr/>
          <p:nvPr/>
        </p:nvSpPr>
        <p:spPr>
          <a:xfrm>
            <a:off x="571500" y="2973586"/>
            <a:ext cx="3893344" cy="1714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212009"/>
            <a:ext cx="285750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8719" y="3187898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数据安全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785813" y="3579019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 DES/AES 对称加密与扇区校验，保证物联网节点数据防篡改。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785813" y="4097610"/>
            <a:ext cx="1371600" cy="20181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5"/>
          <p:cNvSpPr/>
          <p:nvPr/>
        </p:nvSpPr>
        <p:spPr>
          <a:xfrm>
            <a:off x="785813" y="4097610"/>
            <a:ext cx="1371600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物联网体现：节点安全防护</a:t>
            </a:r>
            <a:endParaRPr lang="en-US" sz="683" dirty="0"/>
          </a:p>
        </p:txBody>
      </p:sp>
      <p:sp>
        <p:nvSpPr>
          <p:cNvPr id="22" name="Shape 16"/>
          <p:cNvSpPr/>
          <p:nvPr/>
        </p:nvSpPr>
        <p:spPr>
          <a:xfrm>
            <a:off x="4679156" y="2973586"/>
            <a:ext cx="3893344" cy="1714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212009"/>
            <a:ext cx="285750" cy="2000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86375" y="3187898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并发处理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4893469" y="3579019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利用数据库事务控制，保证高频刷卡时“余额”与“流水”的强一致性。</a:t>
            </a:r>
            <a:endParaRPr lang="en-US" sz="942" dirty="0"/>
          </a:p>
        </p:txBody>
      </p:sp>
      <p:sp>
        <p:nvSpPr>
          <p:cNvPr id="26" name="Shape 19"/>
          <p:cNvSpPr/>
          <p:nvPr/>
        </p:nvSpPr>
        <p:spPr>
          <a:xfrm>
            <a:off x="4893469" y="4097610"/>
            <a:ext cx="1471613" cy="20181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0"/>
          <p:cNvSpPr/>
          <p:nvPr/>
        </p:nvSpPr>
        <p:spPr>
          <a:xfrm>
            <a:off x="4893469" y="4097610"/>
            <a:ext cx="1471613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物联网体现：高频数据一致性</a:t>
            </a:r>
            <a:endParaRPr lang="en-US" sz="68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5100021-4BE5-26F7-742F-813FFAA0E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2F0A8A2-2714-DA8D-9E64-05D910BE24FE}"/>
              </a:ext>
            </a:extLst>
          </p:cNvPr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开源项目实践：物理实体到数字模型的映射</a:t>
            </a:r>
            <a:endParaRPr lang="en-US" sz="1602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DFA1AF5-A11D-9034-73B0-51E032AD5F1E}"/>
              </a:ext>
            </a:extLst>
          </p:cNvPr>
          <p:cNvSpPr/>
          <p:nvPr/>
        </p:nvSpPr>
        <p:spPr>
          <a:xfrm>
            <a:off x="571500" y="1044773"/>
            <a:ext cx="8001000" cy="100012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8280CCD-4911-7504-FA55-9A7A5C4EA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1501973"/>
            <a:ext cx="200025" cy="2286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176B1C8B-8E94-0A90-08EA-70F2FA2F3E42}"/>
              </a:ext>
            </a:extLst>
          </p:cNvPr>
          <p:cNvSpPr/>
          <p:nvPr/>
        </p:nvSpPr>
        <p:spPr>
          <a:xfrm>
            <a:off x="1128713" y="1512689"/>
            <a:ext cx="116264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持卡人 (Physical)</a:t>
            </a:r>
            <a:endParaRPr lang="en-US" sz="987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4F0AA226-7F60-A0CE-6477-A8DC860CE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1530548"/>
            <a:ext cx="171450" cy="171450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A8AD12BE-40A3-1868-02F8-D8631F910AFF}"/>
              </a:ext>
            </a:extLst>
          </p:cNvPr>
          <p:cNvSpPr/>
          <p:nvPr/>
        </p:nvSpPr>
        <p:spPr>
          <a:xfrm>
            <a:off x="4786313" y="1357313"/>
            <a:ext cx="3571875" cy="517922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0B0B6FC-D759-CBFE-55F7-FDFD3E439E3C}"/>
              </a:ext>
            </a:extLst>
          </p:cNvPr>
          <p:cNvSpPr/>
          <p:nvPr/>
        </p:nvSpPr>
        <p:spPr>
          <a:xfrm>
            <a:off x="4929188" y="1471613"/>
            <a:ext cx="328612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79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User 实体</a:t>
            </a:r>
            <a:endParaRPr lang="en-US" sz="885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ADAC1DC-7F27-0C3F-3671-13E3540D0B24}"/>
              </a:ext>
            </a:extLst>
          </p:cNvPr>
          <p:cNvSpPr/>
          <p:nvPr/>
        </p:nvSpPr>
        <p:spPr>
          <a:xfrm>
            <a:off x="4929188" y="1719858"/>
            <a:ext cx="32861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映射持卡人生物信息、学号、所属部门等基础资料。</a:t>
            </a:r>
            <a:endParaRPr lang="en-US" sz="727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8DA019A0-A712-02CA-2C41-A06B836F0ABB}"/>
              </a:ext>
            </a:extLst>
          </p:cNvPr>
          <p:cNvSpPr/>
          <p:nvPr/>
        </p:nvSpPr>
        <p:spPr>
          <a:xfrm>
            <a:off x="571500" y="2187773"/>
            <a:ext cx="8001000" cy="100012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CA3C1631-F4F6-FF77-4991-77D9AB3C9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644973"/>
            <a:ext cx="257175" cy="22860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9819D3E4-D3D7-6CE1-2001-2EFA1CE5E8AC}"/>
              </a:ext>
            </a:extLst>
          </p:cNvPr>
          <p:cNvSpPr/>
          <p:nvPr/>
        </p:nvSpPr>
        <p:spPr>
          <a:xfrm>
            <a:off x="1185863" y="2655689"/>
            <a:ext cx="13751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RFID 卡片 (Physical)</a:t>
            </a:r>
            <a:endParaRPr lang="en-US" sz="987" dirty="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3A0F58EC-CB7B-C51E-0BE3-C584777A7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2673548"/>
            <a:ext cx="171450" cy="171450"/>
          </a:xfrm>
          <a:prstGeom prst="rect">
            <a:avLst/>
          </a:prstGeom>
        </p:spPr>
      </p:pic>
      <p:sp>
        <p:nvSpPr>
          <p:cNvPr id="15" name="Shape 8">
            <a:extLst>
              <a:ext uri="{FF2B5EF4-FFF2-40B4-BE49-F238E27FC236}">
                <a16:creationId xmlns:a16="http://schemas.microsoft.com/office/drawing/2014/main" id="{0249C1A2-5AA3-64C2-F2D3-D277535A56BE}"/>
              </a:ext>
            </a:extLst>
          </p:cNvPr>
          <p:cNvSpPr/>
          <p:nvPr/>
        </p:nvSpPr>
        <p:spPr>
          <a:xfrm>
            <a:off x="4786313" y="2500313"/>
            <a:ext cx="3571875" cy="517922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8A6EB757-D6B2-9CE2-B2DB-39D8E949009F}"/>
              </a:ext>
            </a:extLst>
          </p:cNvPr>
          <p:cNvSpPr/>
          <p:nvPr/>
        </p:nvSpPr>
        <p:spPr>
          <a:xfrm>
            <a:off x="4929188" y="2614613"/>
            <a:ext cx="328612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79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Card 实体</a:t>
            </a:r>
            <a:endParaRPr lang="en-US" sz="885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E4867248-B2EA-3E3F-0137-7E0A597B313B}"/>
              </a:ext>
            </a:extLst>
          </p:cNvPr>
          <p:cNvSpPr/>
          <p:nvPr/>
        </p:nvSpPr>
        <p:spPr>
          <a:xfrm>
            <a:off x="4929188" y="2862858"/>
            <a:ext cx="32861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映射卡片逻辑表示，包含余额、挂失状态、UID及加密校验码。</a:t>
            </a:r>
            <a:endParaRPr lang="en-US" sz="727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ABA181B-6750-2190-0C4C-29AC486ECC45}"/>
              </a:ext>
            </a:extLst>
          </p:cNvPr>
          <p:cNvSpPr/>
          <p:nvPr/>
        </p:nvSpPr>
        <p:spPr>
          <a:xfrm>
            <a:off x="571500" y="3330773"/>
            <a:ext cx="8001000" cy="100012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B909D4FE-3E3B-995E-73A7-0FC5AE2380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787973"/>
            <a:ext cx="171450" cy="228600"/>
          </a:xfrm>
          <a:prstGeom prst="rect">
            <a:avLst/>
          </a:prstGeom>
        </p:spPr>
      </p:pic>
      <p:sp>
        <p:nvSpPr>
          <p:cNvPr id="20" name="Text 12">
            <a:extLst>
              <a:ext uri="{FF2B5EF4-FFF2-40B4-BE49-F238E27FC236}">
                <a16:creationId xmlns:a16="http://schemas.microsoft.com/office/drawing/2014/main" id="{7A5C8D6E-3C80-E77F-A339-635DE2514885}"/>
              </a:ext>
            </a:extLst>
          </p:cNvPr>
          <p:cNvSpPr/>
          <p:nvPr/>
        </p:nvSpPr>
        <p:spPr>
          <a:xfrm>
            <a:off x="1100138" y="3798689"/>
            <a:ext cx="130552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刷卡事件 (Physical)</a:t>
            </a:r>
            <a:endParaRPr lang="en-US" sz="987" dirty="0"/>
          </a:p>
        </p:txBody>
      </p:sp>
      <p:pic>
        <p:nvPicPr>
          <p:cNvPr id="21" name="Image 6" descr="preencoded.png">
            <a:extLst>
              <a:ext uri="{FF2B5EF4-FFF2-40B4-BE49-F238E27FC236}">
                <a16:creationId xmlns:a16="http://schemas.microsoft.com/office/drawing/2014/main" id="{B664068C-3DE8-CBD1-9D7D-6A8E10D4C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3816548"/>
            <a:ext cx="171450" cy="171450"/>
          </a:xfrm>
          <a:prstGeom prst="rect">
            <a:avLst/>
          </a:prstGeom>
        </p:spPr>
      </p:pic>
      <p:sp>
        <p:nvSpPr>
          <p:cNvPr id="22" name="Shape 13">
            <a:extLst>
              <a:ext uri="{FF2B5EF4-FFF2-40B4-BE49-F238E27FC236}">
                <a16:creationId xmlns:a16="http://schemas.microsoft.com/office/drawing/2014/main" id="{398CE52D-252D-2BE9-636A-713CF855DA73}"/>
              </a:ext>
            </a:extLst>
          </p:cNvPr>
          <p:cNvSpPr/>
          <p:nvPr/>
        </p:nvSpPr>
        <p:spPr>
          <a:xfrm>
            <a:off x="4786313" y="3643313"/>
            <a:ext cx="3571875" cy="517922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37A8A6AB-E3C1-1EF5-E444-32234134C36C}"/>
              </a:ext>
            </a:extLst>
          </p:cNvPr>
          <p:cNvSpPr/>
          <p:nvPr/>
        </p:nvSpPr>
        <p:spPr>
          <a:xfrm>
            <a:off x="4929188" y="3757613"/>
            <a:ext cx="328612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79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Bill 实体</a:t>
            </a:r>
            <a:endParaRPr lang="en-US" sz="885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1754CB2E-FF8B-10FE-0BC4-AFF250FEC282}"/>
              </a:ext>
            </a:extLst>
          </p:cNvPr>
          <p:cNvSpPr/>
          <p:nvPr/>
        </p:nvSpPr>
        <p:spPr>
          <a:xfrm>
            <a:off x="4929188" y="4005858"/>
            <a:ext cx="32861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映射感知层触发的一次“事件”，记录消费时间、地点及金额流水。</a:t>
            </a:r>
            <a:endParaRPr lang="en-US" sz="727" dirty="0"/>
          </a:p>
        </p:txBody>
      </p:sp>
    </p:spTree>
    <p:extLst>
      <p:ext uri="{BB962C8B-B14F-4D97-AF65-F5344CB8AC3E}">
        <p14:creationId xmlns:p14="http://schemas.microsoft.com/office/powerpoint/2010/main" val="1062688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664F60B-A774-63CB-1430-24EBE2EBE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B75047E-4BF4-DF7E-EA5F-C5B4622759A3}"/>
              </a:ext>
            </a:extLst>
          </p:cNvPr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消费业务逻辑闭环：从“感应”到“执行”</a:t>
            </a:r>
            <a:endParaRPr lang="en-US" sz="1602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13F947C-8214-82E6-AF15-89BE92394B99}"/>
              </a:ext>
            </a:extLst>
          </p:cNvPr>
          <p:cNvSpPr/>
          <p:nvPr/>
        </p:nvSpPr>
        <p:spPr>
          <a:xfrm>
            <a:off x="571500" y="1187648"/>
            <a:ext cx="2286000" cy="2857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A73CE9B-F60C-FBB0-9658-BA9C897904B6}"/>
              </a:ext>
            </a:extLst>
          </p:cNvPr>
          <p:cNvSpPr/>
          <p:nvPr/>
        </p:nvSpPr>
        <p:spPr>
          <a:xfrm>
            <a:off x="1571625" y="1044773"/>
            <a:ext cx="285750" cy="285750"/>
          </a:xfrm>
          <a:prstGeom prst="ellipse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38DD37E-1F56-3E72-5276-4BE5E9A30BE6}"/>
              </a:ext>
            </a:extLst>
          </p:cNvPr>
          <p:cNvSpPr/>
          <p:nvPr/>
        </p:nvSpPr>
        <p:spPr>
          <a:xfrm>
            <a:off x="1571625" y="10447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87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47E795C-CF5E-4CED-CDBE-EF17C309E688}"/>
              </a:ext>
            </a:extLst>
          </p:cNvPr>
          <p:cNvSpPr/>
          <p:nvPr/>
        </p:nvSpPr>
        <p:spPr>
          <a:xfrm>
            <a:off x="785813" y="1678781"/>
            <a:ext cx="1857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感应触发</a:t>
            </a:r>
            <a:endParaRPr lang="en-US" sz="109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C8BB33E-6CD6-CDE8-4928-BC5241DEC1A9}"/>
              </a:ext>
            </a:extLst>
          </p:cNvPr>
          <p:cNvSpPr/>
          <p:nvPr/>
        </p:nvSpPr>
        <p:spPr>
          <a:xfrm>
            <a:off x="785813" y="2048470"/>
            <a:ext cx="1857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物理终端感应到卡片，封装交易报文，向后端接口发送消费请求：</a:t>
            </a:r>
            <a:endParaRPr lang="en-US" sz="834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FAC75C1-4987-0261-16D2-3A7A35D3449C}"/>
              </a:ext>
            </a:extLst>
          </p:cNvPr>
          <p:cNvSpPr/>
          <p:nvPr/>
        </p:nvSpPr>
        <p:spPr>
          <a:xfrm>
            <a:off x="785813" y="2521353"/>
            <a:ext cx="1857375" cy="245734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B937E47-3E28-A8B5-838A-C82019FF1985}"/>
              </a:ext>
            </a:extLst>
          </p:cNvPr>
          <p:cNvSpPr/>
          <p:nvPr/>
        </p:nvSpPr>
        <p:spPr>
          <a:xfrm>
            <a:off x="785813" y="2521353"/>
            <a:ext cx="1857375" cy="245734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/api/consume</a:t>
            </a:r>
            <a:endParaRPr lang="en-US" sz="727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DEC0BAC7-DA97-1C8F-9886-5128B1AFF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3" y="2502098"/>
            <a:ext cx="142875" cy="22860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3C7A6BE1-2324-27BE-3777-0D9979B1BA98}"/>
              </a:ext>
            </a:extLst>
          </p:cNvPr>
          <p:cNvSpPr/>
          <p:nvPr/>
        </p:nvSpPr>
        <p:spPr>
          <a:xfrm>
            <a:off x="3429000" y="1187648"/>
            <a:ext cx="2286000" cy="2857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D92908C8-EB74-0550-CFC0-8D68FF7D1E0B}"/>
              </a:ext>
            </a:extLst>
          </p:cNvPr>
          <p:cNvSpPr/>
          <p:nvPr/>
        </p:nvSpPr>
        <p:spPr>
          <a:xfrm>
            <a:off x="4429125" y="1044773"/>
            <a:ext cx="285750" cy="285750"/>
          </a:xfrm>
          <a:prstGeom prst="ellipse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FEB5A78-95DE-AF31-8256-23B1135FF949}"/>
              </a:ext>
            </a:extLst>
          </p:cNvPr>
          <p:cNvSpPr/>
          <p:nvPr/>
        </p:nvSpPr>
        <p:spPr>
          <a:xfrm>
            <a:off x="4429125" y="10447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87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59C050FB-B29A-121B-C49A-DCDFE6F99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1473398"/>
            <a:ext cx="342900" cy="34290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83B7D01E-E835-12D1-3592-CA2024992B21}"/>
              </a:ext>
            </a:extLst>
          </p:cNvPr>
          <p:cNvSpPr/>
          <p:nvPr/>
        </p:nvSpPr>
        <p:spPr>
          <a:xfrm>
            <a:off x="3643313" y="1994892"/>
            <a:ext cx="1857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原子处理</a:t>
            </a:r>
            <a:endParaRPr lang="en-US" sz="109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2C51CB1-DBDE-6CF7-6261-85236617DE61}"/>
              </a:ext>
            </a:extLst>
          </p:cNvPr>
          <p:cNvSpPr/>
          <p:nvPr/>
        </p:nvSpPr>
        <p:spPr>
          <a:xfrm>
            <a:off x="3643313" y="2364581"/>
            <a:ext cx="1857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CardService 执行核心数学公式，通过数据库事务保证强一致性：</a:t>
            </a:r>
            <a:endParaRPr lang="en-US" sz="834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3855B97E-C2A7-EDFB-3929-A5E59E4F0080}"/>
              </a:ext>
            </a:extLst>
          </p:cNvPr>
          <p:cNvSpPr/>
          <p:nvPr/>
        </p:nvSpPr>
        <p:spPr>
          <a:xfrm>
            <a:off x="3643313" y="2837464"/>
            <a:ext cx="1857375" cy="245734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81E4925E-F7C4-B86E-BFEF-43D73AC4CC0C}"/>
              </a:ext>
            </a:extLst>
          </p:cNvPr>
          <p:cNvSpPr/>
          <p:nvPr/>
        </p:nvSpPr>
        <p:spPr>
          <a:xfrm>
            <a:off x="3643313" y="2837464"/>
            <a:ext cx="1857375" cy="245734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Bal_new = Bal_old - Amt</a:t>
            </a:r>
            <a:endParaRPr lang="en-US" sz="727" dirty="0"/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5DBD6D36-8D9C-4EF5-C807-02A126151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3" y="2502098"/>
            <a:ext cx="142875" cy="228600"/>
          </a:xfrm>
          <a:prstGeom prst="rect">
            <a:avLst/>
          </a:prstGeom>
        </p:spPr>
      </p:pic>
      <p:sp>
        <p:nvSpPr>
          <p:cNvPr id="21" name="Shape 15">
            <a:extLst>
              <a:ext uri="{FF2B5EF4-FFF2-40B4-BE49-F238E27FC236}">
                <a16:creationId xmlns:a16="http://schemas.microsoft.com/office/drawing/2014/main" id="{A893EEFB-07A5-7A67-9110-E76428550C7C}"/>
              </a:ext>
            </a:extLst>
          </p:cNvPr>
          <p:cNvSpPr/>
          <p:nvPr/>
        </p:nvSpPr>
        <p:spPr>
          <a:xfrm>
            <a:off x="6286500" y="1187648"/>
            <a:ext cx="2286000" cy="2857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AD334A4-38EE-31FC-DEDD-7D43F79B8D50}"/>
              </a:ext>
            </a:extLst>
          </p:cNvPr>
          <p:cNvSpPr/>
          <p:nvPr/>
        </p:nvSpPr>
        <p:spPr>
          <a:xfrm>
            <a:off x="7286625" y="1044773"/>
            <a:ext cx="285750" cy="285750"/>
          </a:xfrm>
          <a:prstGeom prst="ellipse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8351720-FDF7-02AD-0AAA-BA2623783665}"/>
              </a:ext>
            </a:extLst>
          </p:cNvPr>
          <p:cNvSpPr/>
          <p:nvPr/>
        </p:nvSpPr>
        <p:spPr>
          <a:xfrm>
            <a:off x="7286625" y="10447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87" dirty="0"/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4F0F844F-D4AF-B11F-7FFA-BAF0B7D56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6619" y="1473398"/>
            <a:ext cx="385763" cy="342900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BD8FCE3D-5391-AC04-06E7-DF535D3B6C0F}"/>
              </a:ext>
            </a:extLst>
          </p:cNvPr>
          <p:cNvSpPr/>
          <p:nvPr/>
        </p:nvSpPr>
        <p:spPr>
          <a:xfrm>
            <a:off x="6500813" y="1994892"/>
            <a:ext cx="1857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状态反馈</a:t>
            </a:r>
            <a:endParaRPr lang="en-US" sz="109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EE1827FB-2ACE-6010-BCE6-439918828192}"/>
              </a:ext>
            </a:extLst>
          </p:cNvPr>
          <p:cNvSpPr/>
          <p:nvPr/>
        </p:nvSpPr>
        <p:spPr>
          <a:xfrm>
            <a:off x="6500813" y="2364581"/>
            <a:ext cx="18573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后端返回指令，读卡器发出“滴”声，并驱动执行层动作（如弹开电磁锁）。</a:t>
            </a:r>
            <a:endParaRPr lang="en-US" sz="834" dirty="0"/>
          </a:p>
        </p:txBody>
      </p:sp>
    </p:spTree>
    <p:extLst>
      <p:ext uri="{BB962C8B-B14F-4D97-AF65-F5344CB8AC3E}">
        <p14:creationId xmlns:p14="http://schemas.microsoft.com/office/powerpoint/2010/main" val="1425270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项目学习价值与延伸应用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4286250" cy="385762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91233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1259086"/>
            <a:ext cx="2571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食堂消费频次时段分析（数据挖掘示例）</a:t>
            </a:r>
            <a:endParaRPr lang="en-US" sz="987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609130"/>
            <a:ext cx="3843338" cy="25003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5813" y="4252317"/>
            <a:ext cx="38576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数据来源：模拟 cardSystem 消费流水统计</a:t>
            </a:r>
            <a:endParaRPr lang="en-US" sz="727" dirty="0"/>
          </a:p>
        </p:txBody>
      </p:sp>
      <p:sp>
        <p:nvSpPr>
          <p:cNvPr id="9" name="Shape 4"/>
          <p:cNvSpPr/>
          <p:nvPr/>
        </p:nvSpPr>
        <p:spPr>
          <a:xfrm>
            <a:off x="5143500" y="1044773"/>
            <a:ext cx="3429000" cy="11430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2094" y="1255514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50694" y="1223367"/>
            <a:ext cx="1285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行为分析与决策支持</a:t>
            </a:r>
            <a:endParaRPr lang="en-US" sz="987" dirty="0"/>
          </a:p>
        </p:txBody>
      </p:sp>
      <p:sp>
        <p:nvSpPr>
          <p:cNvPr id="12" name="Text 6"/>
          <p:cNvSpPr/>
          <p:nvPr/>
        </p:nvSpPr>
        <p:spPr>
          <a:xfrm>
            <a:off x="5322094" y="1516261"/>
            <a:ext cx="30718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通过分析刷卡频次，精准推断食堂、图书馆等公共场所的拥挤时段，为校园资源调度提供科学依据。</a:t>
            </a:r>
            <a:endParaRPr lang="en-US" sz="834" dirty="0"/>
          </a:p>
        </p:txBody>
      </p:sp>
      <p:sp>
        <p:nvSpPr>
          <p:cNvPr id="13" name="Shape 7"/>
          <p:cNvSpPr/>
          <p:nvPr/>
        </p:nvSpPr>
        <p:spPr>
          <a:xfrm>
            <a:off x="5143500" y="2330648"/>
            <a:ext cx="3429000" cy="11430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2094" y="2541389"/>
            <a:ext cx="160734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68553" y="2509242"/>
            <a:ext cx="1285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精准资助与消费预警</a:t>
            </a:r>
            <a:endParaRPr lang="en-US" sz="987" dirty="0"/>
          </a:p>
        </p:txBody>
      </p:sp>
      <p:sp>
        <p:nvSpPr>
          <p:cNvPr id="16" name="Text 9"/>
          <p:cNvSpPr/>
          <p:nvPr/>
        </p:nvSpPr>
        <p:spPr>
          <a:xfrm>
            <a:off x="5322094" y="2802136"/>
            <a:ext cx="30718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利用大数据分析学生消费水平，辅助贫困生认定；同时对异常消费行为进行预警，保障学生校园生活安全。</a:t>
            </a:r>
            <a:endParaRPr lang="en-US" sz="834" dirty="0"/>
          </a:p>
        </p:txBody>
      </p:sp>
      <p:sp>
        <p:nvSpPr>
          <p:cNvPr id="17" name="Shape 10"/>
          <p:cNvSpPr/>
          <p:nvPr/>
        </p:nvSpPr>
        <p:spPr>
          <a:xfrm>
            <a:off x="5143500" y="3616523"/>
            <a:ext cx="3429000" cy="1143000"/>
          </a:xfrm>
          <a:prstGeom prst="rect">
            <a:avLst/>
          </a:prstGeom>
          <a:solidFill>
            <a:srgbClr val="2D2D2D"/>
          </a:solidFill>
          <a:ln w="9144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2094" y="3827264"/>
            <a:ext cx="178594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586413" y="3795117"/>
            <a:ext cx="1285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从感知到决策的闭环</a:t>
            </a:r>
            <a:endParaRPr lang="en-US" sz="987" dirty="0"/>
          </a:p>
        </p:txBody>
      </p:sp>
      <p:sp>
        <p:nvSpPr>
          <p:cNvPr id="20" name="Text 12"/>
          <p:cNvSpPr/>
          <p:nvPr/>
        </p:nvSpPr>
        <p:spPr>
          <a:xfrm>
            <a:off x="5322094" y="4088011"/>
            <a:ext cx="30718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实现了从底层硬件感知数据，到云端处理分析，再到顶层管理决策的完整物联网价值链条。</a:t>
            </a:r>
            <a:endParaRPr lang="en-US" sz="8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核心总结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187648"/>
            <a:ext cx="3893344" cy="85725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01973"/>
            <a:ext cx="26404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64165" y="1396268"/>
            <a:ext cx="2986367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校园一卡通是物联网技术在校园场景的典型落地案例</a:t>
            </a:r>
            <a:endParaRPr lang="en-US" sz="1090" dirty="0"/>
          </a:p>
        </p:txBody>
      </p:sp>
      <p:sp>
        <p:nvSpPr>
          <p:cNvPr id="7" name="Shape 3"/>
          <p:cNvSpPr/>
          <p:nvPr/>
        </p:nvSpPr>
        <p:spPr>
          <a:xfrm>
            <a:off x="4679156" y="1187648"/>
            <a:ext cx="3893344" cy="85725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501973"/>
            <a:ext cx="293368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01149" y="1396268"/>
            <a:ext cx="295703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三层架构支撑了“感知-传输-应用”的完整闭环</a:t>
            </a:r>
            <a:endParaRPr lang="en-US" sz="1090" dirty="0"/>
          </a:p>
        </p:txBody>
      </p:sp>
      <p:sp>
        <p:nvSpPr>
          <p:cNvPr id="10" name="Shape 5"/>
          <p:cNvSpPr/>
          <p:nvPr/>
        </p:nvSpPr>
        <p:spPr>
          <a:xfrm>
            <a:off x="571500" y="2259211"/>
            <a:ext cx="3893344" cy="85725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573536"/>
            <a:ext cx="282039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2164" y="2467831"/>
            <a:ext cx="296836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技术细节（加密、并发、嵌入式）保障系统稳定</a:t>
            </a:r>
            <a:endParaRPr lang="en-US" sz="1090" dirty="0"/>
          </a:p>
        </p:txBody>
      </p:sp>
      <p:sp>
        <p:nvSpPr>
          <p:cNvPr id="13" name="Shape 7"/>
          <p:cNvSpPr/>
          <p:nvPr/>
        </p:nvSpPr>
        <p:spPr>
          <a:xfrm>
            <a:off x="4679156" y="2259211"/>
            <a:ext cx="3893344" cy="85725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573536"/>
            <a:ext cx="279974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387755" y="2467831"/>
            <a:ext cx="297043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实践验证了物联网从“技术”到“场景”的落地逻辑</a:t>
            </a:r>
            <a:endParaRPr lang="en-US" sz="1090" dirty="0"/>
          </a:p>
        </p:txBody>
      </p:sp>
      <p:sp>
        <p:nvSpPr>
          <p:cNvPr id="16" name="Text 9"/>
          <p:cNvSpPr/>
          <p:nvPr/>
        </p:nvSpPr>
        <p:spPr>
          <a:xfrm>
            <a:off x="0" y="3687961"/>
            <a:ext cx="9144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感谢您的聆听！</a:t>
            </a:r>
            <a:endParaRPr lang="en-US" sz="24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624</Words>
  <Application>Microsoft Office PowerPoint</Application>
  <PresentationFormat>全屏显示(16:9)</PresentationFormat>
  <Paragraphs>182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Inter</vt:lpstr>
      <vt:lpstr>Arial</vt:lpstr>
      <vt:lpstr>Courier New</vt:lpstr>
      <vt:lpstr>Fira Code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英杰 傅</cp:lastModifiedBy>
  <cp:revision>6</cp:revision>
  <dcterms:created xsi:type="dcterms:W3CDTF">2026-03-15T12:33:21Z</dcterms:created>
  <dcterms:modified xsi:type="dcterms:W3CDTF">2026-03-15T12:47:29Z</dcterms:modified>
</cp:coreProperties>
</file>